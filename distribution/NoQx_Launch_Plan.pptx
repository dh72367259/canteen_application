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5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n-5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2080" y="1463040"/>
            <a:ext cx="1828800" cy="1828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0" y="3474720"/>
            <a:ext cx="12188952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4400" b="1">
                <a:solidFill>
                  <a:srgbClr val="FFFFFF"/>
                </a:solidFill>
                <a:latin typeface="Calibri"/>
              </a:rPr>
              <a:t>NoQx Launch Plan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4389120"/>
            <a:ext cx="1218895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800" b="0">
                <a:solidFill>
                  <a:srgbClr val="C4B5FD"/>
                </a:solidFill>
                <a:latin typeface="Calibri"/>
              </a:rPr>
              <a:t>Skip the queue. Pre-order. Pickup.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5669280"/>
            <a:ext cx="1218895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>
                <a:solidFill>
                  <a:srgbClr val="94A3B8"/>
                </a:solidFill>
                <a:latin typeface="Calibri"/>
              </a:rPr>
              <a:t>Path from code-ready to live in stores · 2026-05-22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Where we are today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4864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Code-ready, infrastructure live, store accounts pending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274320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400" b="1">
                <a:solidFill>
                  <a:srgbClr val="FFFFFF"/>
                </a:solidFill>
                <a:latin typeface="Calibri"/>
              </a:rPr>
              <a:t>NoQx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09728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16A34A"/>
                </a:solidFill>
                <a:latin typeface="Calibri"/>
              </a:rPr>
              <a:t>DONE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1E293B"/>
                </a:solidFill>
                <a:latin typeface="Calibri"/>
              </a:rPr>
              <a:t>✓  Production web app live at https://noqx.co.in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69164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1E293B"/>
                </a:solidFill>
                <a:latin typeface="Calibri"/>
              </a:rPr>
              <a:t>✓  Cloudflare proxy + SSL Full mode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96596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1E293B"/>
                </a:solidFill>
                <a:latin typeface="Calibri"/>
              </a:rPr>
              <a:t>✓  Supabase production schema + auth + RLS verified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24028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1E293B"/>
                </a:solidFill>
                <a:latin typeface="Calibri"/>
              </a:rPr>
              <a:t>✓  Both Android APKs build, sign, and run on device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51460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1E293B"/>
                </a:solidFill>
                <a:latin typeface="Calibri"/>
              </a:rPr>
              <a:t>✓  iOS Capacitor scaffold compile-checks pass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78892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1E293B"/>
                </a:solidFill>
                <a:latin typeface="Calibri"/>
              </a:rPr>
              <a:t>✓  All legal pages live (Privacy, Terms, Refund, Shipping, Contact)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06324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1E293B"/>
                </a:solidFill>
                <a:latin typeface="Calibri"/>
              </a:rPr>
              <a:t>✓  Email infrastructure operational (Resend + Cloudflare routing)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333756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1E293B"/>
                </a:solidFill>
                <a:latin typeface="Calibri"/>
              </a:rPr>
              <a:t>✓  Brand assets: logo, splash, all icon sizes generated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361188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1E293B"/>
                </a:solidFill>
                <a:latin typeface="Calibri"/>
              </a:rPr>
              <a:t>✓  Store-listing copy + data-safety answers prepared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388620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1E293B"/>
                </a:solidFill>
                <a:latin typeface="Calibri"/>
              </a:rPr>
              <a:t>✓  19/19 production smoke tests passing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416052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1E293B"/>
                </a:solidFill>
                <a:latin typeface="Calibri"/>
              </a:rPr>
              <a:t>✓  Razorpay code integration complete (test mode active)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443484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1E293B"/>
                </a:solidFill>
                <a:latin typeface="Calibri"/>
              </a:rPr>
              <a:t>✓  Mobile keystores generated + backed up (OneDrive)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109728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D97706"/>
                </a:solidFill>
                <a:latin typeface="Calibri"/>
              </a:rPr>
              <a:t>PENDING (operator action)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0" y="141732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Calibri"/>
              </a:rPr>
              <a:t>○  Apple Developer Program enrolment ($99/yr)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0" y="169164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Calibri"/>
              </a:rPr>
              <a:t>○  Google Play Console signup ($25 one-time)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0" y="196596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Calibri"/>
              </a:rPr>
              <a:t>○  Razorpay KYC + live keys deployment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0" y="224028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Calibri"/>
              </a:rPr>
              <a:t>○  Supabase Pro upgrade ($25/mo) for DB backups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0" y="251460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Calibri"/>
              </a:rPr>
              <a:t>○  App store listings created + screenshots captured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0" y="278892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Calibri"/>
              </a:rPr>
              <a:t>○  Real canteen seeded (placeholder still live)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0" y="306324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Calibri"/>
              </a:rPr>
              <a:t>○  GST registration decision + flag set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0" y="333756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Calibri"/>
              </a:rPr>
              <a:t>○  FSSAI license number displayed on canteen pages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83680" y="361188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Calibri"/>
              </a:rPr>
              <a:t>○  Production APK flipped + uploaded to Internal track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0" y="388620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Calibri"/>
              </a:rPr>
              <a:t>○  iOS signing material (after Apple Dev approves)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83680" y="416052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Calibri"/>
              </a:rPr>
              <a:t>○  TestFlight build + verification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0" y="443484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Calibri"/>
              </a:rPr>
              <a:t>○  Submit for App Review (Play + Apple)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Calibri"/>
              </a:rPr>
              <a:t>NoQx Launch Plan · Prepared 2026-05-22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0" y="653796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Calibri"/>
              </a:rPr>
              <a:t>2 / 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14-day timeline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4864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From sign-ups to live in both stores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274320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400" b="1">
                <a:solidFill>
                  <a:srgbClr val="FFFFFF"/>
                </a:solidFill>
                <a:latin typeface="Calibri"/>
              </a:rPr>
              <a:t>NoQx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280160"/>
          <a:ext cx="1124712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2011680"/>
                <a:gridCol w="6400800"/>
                <a:gridCol w="1554480"/>
              </a:tblGrid>
              <a:tr h="329184">
                <a:tc>
                  <a:txBody>
                    <a:bodyPr lIns="73152" rIns="45720" tIns="36576" bIns="36576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When</a:t>
                      </a:r>
                    </a:p>
                  </a:txBody>
                  <a:tcPr>
                    <a:solidFill>
                      <a:srgbClr val="7C3AED"/>
                    </a:solidFill>
                  </a:tcPr>
                </a:tc>
                <a:tc>
                  <a:txBody>
                    <a:bodyPr lIns="73152" rIns="45720" tIns="36576" bIns="36576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What</a:t>
                      </a:r>
                    </a:p>
                  </a:txBody>
                  <a:tcPr>
                    <a:solidFill>
                      <a:srgbClr val="7C3AED"/>
                    </a:solidFill>
                  </a:tcPr>
                </a:tc>
                <a:tc>
                  <a:txBody>
                    <a:bodyPr lIns="73152" rIns="45720" tIns="36576" bIns="36576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Detail</a:t>
                      </a:r>
                    </a:p>
                  </a:txBody>
                  <a:tcPr>
                    <a:solidFill>
                      <a:srgbClr val="7C3AED"/>
                    </a:solidFill>
                  </a:tcPr>
                </a:tc>
                <a:tc>
                  <a:txBody>
                    <a:bodyPr lIns="73152" rIns="45720" tIns="36576" bIns="36576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Cost</a:t>
                      </a:r>
                    </a:p>
                  </a:txBody>
                  <a:tcPr>
                    <a:solidFill>
                      <a:srgbClr val="7C3AED"/>
                    </a:solidFill>
                  </a:tcPr>
                </a:tc>
              </a:tr>
              <a:tr h="329184">
                <a:tc>
                  <a:txBody>
                    <a:bodyPr lIns="73152" rIns="45720" tIns="36576" bIns="36576"/>
                    <a:lstStyle/>
                    <a:p>
                      <a:r>
                        <a:rPr sz="1000">
                          <a:solidFill>
                            <a:srgbClr val="1E293B"/>
                          </a:solidFill>
                        </a:rPr>
                        <a:t>Day 0 (Today)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45720" tIns="36576" bIns="36576"/>
                    <a:lstStyle/>
                    <a:p>
                      <a:r>
                        <a:rPr sz="1000">
                          <a:solidFill>
                            <a:srgbClr val="1E293B"/>
                          </a:solidFill>
                        </a:rPr>
                        <a:t>Open 4 accounts in parallel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45720" tIns="36576" bIns="36576"/>
                    <a:lstStyle/>
                    <a:p>
                      <a:r>
                        <a:rPr sz="1000">
                          <a:solidFill>
                            <a:srgbClr val="1E293B"/>
                          </a:solidFill>
                        </a:rPr>
                        <a:t>Apple Dev + Play + Razorpay KYC + Supabase Pro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45720" tIns="36576" bIns="36576"/>
                    <a:lstStyle/>
                    <a:p>
                      <a:r>
                        <a:rPr sz="1000">
                          <a:solidFill>
                            <a:srgbClr val="1E293B"/>
                          </a:solidFill>
                        </a:rPr>
                        <a:t>$124 + $25/mo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lIns="73152" rIns="45720" tIns="36576" bIns="36576"/>
                    <a:lstStyle/>
                    <a:p>
                      <a:r>
                        <a:rPr sz="1000">
                          <a:solidFill>
                            <a:srgbClr val="1E293B"/>
                          </a:solidFill>
                        </a:rPr>
                        <a:t>Day 1-2</a:t>
                      </a:r>
                    </a:p>
                  </a:txBody>
                  <a:tcPr>
                    <a:solidFill>
                      <a:srgbClr val="F5F3FF"/>
                    </a:solidFill>
                  </a:tcPr>
                </a:tc>
                <a:tc>
                  <a:txBody>
                    <a:bodyPr lIns="73152" rIns="45720" tIns="36576" bIns="36576"/>
                    <a:lstStyle/>
                    <a:p>
                      <a:r>
                        <a:rPr sz="1000">
                          <a:solidFill>
                            <a:srgbClr val="1E293B"/>
                          </a:solidFill>
                        </a:rPr>
                        <a:t>Wait</a:t>
                      </a:r>
                    </a:p>
                  </a:txBody>
                  <a:tcPr>
                    <a:solidFill>
                      <a:srgbClr val="F5F3FF"/>
                    </a:solidFill>
                  </a:tcPr>
                </a:tc>
                <a:tc>
                  <a:txBody>
                    <a:bodyPr lIns="73152" rIns="45720" tIns="36576" bIns="36576"/>
                    <a:lstStyle/>
                    <a:p>
                      <a:r>
                        <a:rPr sz="1000">
                          <a:solidFill>
                            <a:srgbClr val="1E293B"/>
                          </a:solidFill>
                        </a:rPr>
                        <a:t>Apple Dev review (24-48h)</a:t>
                      </a:r>
                    </a:p>
                  </a:txBody>
                  <a:tcPr>
                    <a:solidFill>
                      <a:srgbClr val="F5F3FF"/>
                    </a:solidFill>
                  </a:tcPr>
                </a:tc>
                <a:tc>
                  <a:txBody>
                    <a:bodyPr lIns="73152" rIns="45720" tIns="36576" bIns="36576"/>
                    <a:lstStyle/>
                    <a:p>
                      <a:r>
                        <a:rPr sz="1000">
                          <a:solidFill>
                            <a:srgbClr val="1E293B"/>
                          </a:solidFill>
                        </a:rPr>
                        <a:t>$0</a:t>
                      </a:r>
                    </a:p>
                  </a:txBody>
                  <a:tcPr>
                    <a:solidFill>
                      <a:srgbClr val="F5F3FF"/>
                    </a:solidFill>
                  </a:tcPr>
                </a:tc>
              </a:tr>
              <a:tr h="329184">
                <a:tc>
                  <a:txBody>
                    <a:bodyPr lIns="73152" rIns="45720" tIns="36576" bIns="36576"/>
                    <a:lstStyle/>
                    <a:p>
                      <a:r>
                        <a:rPr sz="1000">
                          <a:solidFill>
                            <a:srgbClr val="1E293B"/>
                          </a:solidFill>
                        </a:rPr>
                        <a:t>Day 2-3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45720" tIns="36576" bIns="36576"/>
                    <a:lstStyle/>
                    <a:p>
                      <a:r>
                        <a:rPr sz="1000">
                          <a:solidFill>
                            <a:srgbClr val="1E293B"/>
                          </a:solidFill>
                        </a:rPr>
                        <a:t>iOS signing setup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45720" tIns="36576" bIns="36576"/>
                    <a:lstStyle/>
                    <a:p>
                      <a:r>
                        <a:rPr sz="1000">
                          <a:solidFill>
                            <a:srgbClr val="1E293B"/>
                          </a:solidFill>
                        </a:rPr>
                        <a:t>Cert + Profile + ASC API key → 6 GitHub secrets → TestFlight build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45720" tIns="36576" bIns="36576"/>
                    <a:lstStyle/>
                    <a:p>
                      <a:r>
                        <a:rPr sz="1000">
                          <a:solidFill>
                            <a:srgbClr val="1E293B"/>
                          </a:solidFill>
                        </a:rPr>
                        <a:t>$0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lIns="73152" rIns="45720" tIns="36576" bIns="36576"/>
                    <a:lstStyle/>
                    <a:p>
                      <a:r>
                        <a:rPr sz="1000">
                          <a:solidFill>
                            <a:srgbClr val="1E293B"/>
                          </a:solidFill>
                        </a:rPr>
                        <a:t>Day 3-7</a:t>
                      </a:r>
                    </a:p>
                  </a:txBody>
                  <a:tcPr>
                    <a:solidFill>
                      <a:srgbClr val="F5F3FF"/>
                    </a:solidFill>
                  </a:tcPr>
                </a:tc>
                <a:tc>
                  <a:txBody>
                    <a:bodyPr lIns="73152" rIns="45720" tIns="36576" bIns="36576"/>
                    <a:lstStyle/>
                    <a:p>
                      <a:r>
                        <a:rPr sz="1000">
                          <a:solidFill>
                            <a:srgbClr val="1E293B"/>
                          </a:solidFill>
                        </a:rPr>
                        <a:t>Wait + setup</a:t>
                      </a:r>
                    </a:p>
                  </a:txBody>
                  <a:tcPr>
                    <a:solidFill>
                      <a:srgbClr val="F5F3FF"/>
                    </a:solidFill>
                  </a:tcPr>
                </a:tc>
                <a:tc>
                  <a:txBody>
                    <a:bodyPr lIns="73152" rIns="45720" tIns="36576" bIns="36576"/>
                    <a:lstStyle/>
                    <a:p>
                      <a:r>
                        <a:rPr sz="1000">
                          <a:solidFill>
                            <a:srgbClr val="1E293B"/>
                          </a:solidFill>
                        </a:rPr>
                        <a:t>Razorpay KYC reviewed (3-7d). Meanwhile build Play listings.</a:t>
                      </a:r>
                    </a:p>
                  </a:txBody>
                  <a:tcPr>
                    <a:solidFill>
                      <a:srgbClr val="F5F3FF"/>
                    </a:solidFill>
                  </a:tcPr>
                </a:tc>
                <a:tc>
                  <a:txBody>
                    <a:bodyPr lIns="73152" rIns="45720" tIns="36576" bIns="36576"/>
                    <a:lstStyle/>
                    <a:p>
                      <a:r>
                        <a:rPr sz="1000">
                          <a:solidFill>
                            <a:srgbClr val="1E293B"/>
                          </a:solidFill>
                        </a:rPr>
                        <a:t>$0</a:t>
                      </a:r>
                    </a:p>
                  </a:txBody>
                  <a:tcPr>
                    <a:solidFill>
                      <a:srgbClr val="F5F3FF"/>
                    </a:solidFill>
                  </a:tcPr>
                </a:tc>
              </a:tr>
              <a:tr h="329184">
                <a:tc>
                  <a:txBody>
                    <a:bodyPr lIns="73152" rIns="45720" tIns="36576" bIns="36576"/>
                    <a:lstStyle/>
                    <a:p>
                      <a:r>
                        <a:rPr sz="1000">
                          <a:solidFill>
                            <a:srgbClr val="1E293B"/>
                          </a:solidFill>
                        </a:rPr>
                        <a:t>Day 5-7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45720" tIns="36576" bIns="36576"/>
                    <a:lstStyle/>
                    <a:p>
                      <a:r>
                        <a:rPr sz="1000">
                          <a:solidFill>
                            <a:srgbClr val="1E293B"/>
                          </a:solidFill>
                        </a:rPr>
                        <a:t>Live keys + screenshots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45720" tIns="36576" bIns="36576"/>
                    <a:lstStyle/>
                    <a:p>
                      <a:r>
                        <a:rPr sz="1000">
                          <a:solidFill>
                            <a:srgbClr val="1E293B"/>
                          </a:solidFill>
                        </a:rPr>
                        <a:t>Razorpay live deployed, ₹1 test order. Capture 6+4 screenshots.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45720" tIns="36576" bIns="36576"/>
                    <a:lstStyle/>
                    <a:p>
                      <a:r>
                        <a:rPr sz="1000">
                          <a:solidFill>
                            <a:srgbClr val="1E293B"/>
                          </a:solidFill>
                        </a:rPr>
                        <a:t>₹1 in fees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lIns="73152" rIns="45720" tIns="36576" bIns="36576"/>
                    <a:lstStyle/>
                    <a:p>
                      <a:r>
                        <a:rPr sz="1000">
                          <a:solidFill>
                            <a:srgbClr val="1E293B"/>
                          </a:solidFill>
                        </a:rPr>
                        <a:t>Day 7</a:t>
                      </a:r>
                    </a:p>
                  </a:txBody>
                  <a:tcPr>
                    <a:solidFill>
                      <a:srgbClr val="F5F3FF"/>
                    </a:solidFill>
                  </a:tcPr>
                </a:tc>
                <a:tc>
                  <a:txBody>
                    <a:bodyPr lIns="73152" rIns="45720" tIns="36576" bIns="36576"/>
                    <a:lstStyle/>
                    <a:p>
                      <a:r>
                        <a:rPr sz="1000">
                          <a:solidFill>
                            <a:srgbClr val="1E293B"/>
                          </a:solidFill>
                        </a:rPr>
                        <a:t>Production flip</a:t>
                      </a:r>
                    </a:p>
                  </a:txBody>
                  <a:tcPr>
                    <a:solidFill>
                      <a:srgbClr val="F5F3FF"/>
                    </a:solidFill>
                  </a:tcPr>
                </a:tc>
                <a:tc>
                  <a:txBody>
                    <a:bodyPr lIns="73152" rIns="45720" tIns="36576" bIns="36576"/>
                    <a:lstStyle/>
                    <a:p>
                      <a:r>
                        <a:rPr sz="1000">
                          <a:solidFill>
                            <a:srgbClr val="1E293B"/>
                          </a:solidFill>
                        </a:rPr>
                        <a:t>Real canteen seeded. Capacitor flip to noqx.co.in. Production APKs built.</a:t>
                      </a:r>
                    </a:p>
                  </a:txBody>
                  <a:tcPr>
                    <a:solidFill>
                      <a:srgbClr val="F5F3FF"/>
                    </a:solidFill>
                  </a:tcPr>
                </a:tc>
                <a:tc>
                  <a:txBody>
                    <a:bodyPr lIns="73152" rIns="45720" tIns="36576" bIns="36576"/>
                    <a:lstStyle/>
                    <a:p>
                      <a:r>
                        <a:rPr sz="1000">
                          <a:solidFill>
                            <a:srgbClr val="1E293B"/>
                          </a:solidFill>
                        </a:rPr>
                        <a:t>$0</a:t>
                      </a:r>
                    </a:p>
                  </a:txBody>
                  <a:tcPr>
                    <a:solidFill>
                      <a:srgbClr val="F5F3FF"/>
                    </a:solidFill>
                  </a:tcPr>
                </a:tc>
              </a:tr>
              <a:tr h="329184">
                <a:tc>
                  <a:txBody>
                    <a:bodyPr lIns="73152" rIns="45720" tIns="36576" bIns="36576"/>
                    <a:lstStyle/>
                    <a:p>
                      <a:r>
                        <a:rPr sz="1000">
                          <a:solidFill>
                            <a:srgbClr val="1E293B"/>
                          </a:solidFill>
                        </a:rPr>
                        <a:t>Day 7-10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45720" tIns="36576" bIns="36576"/>
                    <a:lstStyle/>
                    <a:p>
                      <a:r>
                        <a:rPr sz="1000">
                          <a:solidFill>
                            <a:srgbClr val="1E293B"/>
                          </a:solidFill>
                        </a:rPr>
                        <a:t>Internal testing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45720" tIns="36576" bIns="36576"/>
                    <a:lstStyle/>
                    <a:p>
                      <a:r>
                        <a:rPr sz="1000">
                          <a:solidFill>
                            <a:srgbClr val="1E293B"/>
                          </a:solidFill>
                        </a:rPr>
                        <a:t>Upload AAB to Play Internal, IPA to TestFlight. Invite operator + client.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45720" tIns="36576" bIns="36576"/>
                    <a:lstStyle/>
                    <a:p>
                      <a:r>
                        <a:rPr sz="1000">
                          <a:solidFill>
                            <a:srgbClr val="1E293B"/>
                          </a:solidFill>
                        </a:rPr>
                        <a:t>$0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lIns="73152" rIns="45720" tIns="36576" bIns="36576"/>
                    <a:lstStyle/>
                    <a:p>
                      <a:r>
                        <a:rPr sz="1000">
                          <a:solidFill>
                            <a:srgbClr val="1E293B"/>
                          </a:solidFill>
                        </a:rPr>
                        <a:t>Day 10-12</a:t>
                      </a:r>
                    </a:p>
                  </a:txBody>
                  <a:tcPr>
                    <a:solidFill>
                      <a:srgbClr val="F5F3FF"/>
                    </a:solidFill>
                  </a:tcPr>
                </a:tc>
                <a:tc>
                  <a:txBody>
                    <a:bodyPr lIns="73152" rIns="45720" tIns="36576" bIns="36576"/>
                    <a:lstStyle/>
                    <a:p>
                      <a:r>
                        <a:rPr sz="1000">
                          <a:solidFill>
                            <a:srgbClr val="1E293B"/>
                          </a:solidFill>
                        </a:rPr>
                        <a:t>Submit for review</a:t>
                      </a:r>
                    </a:p>
                  </a:txBody>
                  <a:tcPr>
                    <a:solidFill>
                      <a:srgbClr val="F5F3FF"/>
                    </a:solidFill>
                  </a:tcPr>
                </a:tc>
                <a:tc>
                  <a:txBody>
                    <a:bodyPr lIns="73152" rIns="45720" tIns="36576" bIns="36576"/>
                    <a:lstStyle/>
                    <a:p>
                      <a:r>
                        <a:rPr sz="1000">
                          <a:solidFill>
                            <a:srgbClr val="1E293B"/>
                          </a:solidFill>
                        </a:rPr>
                        <a:t>Play review (1-3d). Apple review (24-48h).</a:t>
                      </a:r>
                    </a:p>
                  </a:txBody>
                  <a:tcPr>
                    <a:solidFill>
                      <a:srgbClr val="F5F3FF"/>
                    </a:solidFill>
                  </a:tcPr>
                </a:tc>
                <a:tc>
                  <a:txBody>
                    <a:bodyPr lIns="73152" rIns="45720" tIns="36576" bIns="36576"/>
                    <a:lstStyle/>
                    <a:p>
                      <a:r>
                        <a:rPr sz="1000">
                          <a:solidFill>
                            <a:srgbClr val="1E293B"/>
                          </a:solidFill>
                        </a:rPr>
                        <a:t>$0</a:t>
                      </a:r>
                    </a:p>
                  </a:txBody>
                  <a:tcPr>
                    <a:solidFill>
                      <a:srgbClr val="F5F3FF"/>
                    </a:solidFill>
                  </a:tcPr>
                </a:tc>
              </a:tr>
              <a:tr h="329184">
                <a:tc>
                  <a:txBody>
                    <a:bodyPr lIns="73152" rIns="45720" tIns="36576" bIns="36576"/>
                    <a:lstStyle/>
                    <a:p>
                      <a:r>
                        <a:rPr sz="1000">
                          <a:solidFill>
                            <a:srgbClr val="1E293B"/>
                          </a:solidFill>
                        </a:rPr>
                        <a:t>Day 12-14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45720" tIns="36576" bIns="36576"/>
                    <a:lstStyle/>
                    <a:p>
                      <a:r>
                        <a:rPr sz="1000">
                          <a:solidFill>
                            <a:srgbClr val="1E293B"/>
                          </a:solidFill>
                        </a:rPr>
                        <a:t>Approved → live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45720" tIns="36576" bIns="36576"/>
                    <a:lstStyle/>
                    <a:p>
                      <a:r>
                        <a:rPr sz="1000">
                          <a:solidFill>
                            <a:srgbClr val="1E293B"/>
                          </a:solidFill>
                        </a:rPr>
                        <a:t>Rollout 100% on both stores. Open the canteen.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45720" tIns="36576" bIns="36576"/>
                    <a:lstStyle/>
                    <a:p>
                      <a:r>
                        <a:rPr sz="1000">
                          <a:solidFill>
                            <a:srgbClr val="1E293B"/>
                          </a:solidFill>
                        </a:rPr>
                        <a:t>🟢 LIVE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612648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Calibri"/>
              </a:rPr>
              <a:t>Critical path is external review wait: Apple Dev 24-48h, Razorpay KYC 3-7 days, app store reviews 1-3 days each.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Calibri"/>
              </a:rPr>
              <a:t>NoQx Launch Plan · Prepared 2026-05-22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653796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Calibri"/>
              </a:rPr>
              <a:t>3 / 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Upfront costs (one-time)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4864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Pay these once to get to launch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274320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400" b="1">
                <a:solidFill>
                  <a:srgbClr val="FFFFFF"/>
                </a:solidFill>
                <a:latin typeface="Calibri"/>
              </a:rPr>
              <a:t>NoQx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1371600" y="1371600"/>
          <a:ext cx="9418320" cy="29626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1645920"/>
                <a:gridCol w="4572000"/>
              </a:tblGrid>
              <a:tr h="329184">
                <a:tc>
                  <a:txBody>
                    <a:bodyPr lIns="73152" rIns="45720" tIns="36576" bIns="36576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Service</a:t>
                      </a:r>
                    </a:p>
                  </a:txBody>
                  <a:tcPr>
                    <a:solidFill>
                      <a:srgbClr val="7C3AED"/>
                    </a:solidFill>
                  </a:tcPr>
                </a:tc>
                <a:tc>
                  <a:txBody>
                    <a:bodyPr lIns="73152" rIns="45720" tIns="36576" bIns="36576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Cost</a:t>
                      </a:r>
                    </a:p>
                  </a:txBody>
                  <a:tcPr>
                    <a:solidFill>
                      <a:srgbClr val="7C3AED"/>
                    </a:solidFill>
                  </a:tcPr>
                </a:tc>
                <a:tc>
                  <a:txBody>
                    <a:bodyPr lIns="73152" rIns="45720" tIns="36576" bIns="36576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Why</a:t>
                      </a:r>
                    </a:p>
                  </a:txBody>
                  <a:tcPr>
                    <a:solidFill>
                      <a:srgbClr val="7C3AED"/>
                    </a:solidFill>
                  </a:tcPr>
                </a:tc>
              </a:tr>
              <a:tr h="329184">
                <a:tc>
                  <a:txBody>
                    <a:bodyPr lIns="73152" rIns="45720" tIns="36576" bIns="36576"/>
                    <a:lstStyle/>
                    <a:p>
                      <a:r>
                        <a:rPr sz="1200">
                          <a:solidFill>
                            <a:srgbClr val="1E293B"/>
                          </a:solidFill>
                        </a:rPr>
                        <a:t>Apple Developer Program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45720" tIns="36576" bIns="36576"/>
                    <a:lstStyle/>
                    <a:p>
                      <a:r>
                        <a:rPr sz="1200">
                          <a:solidFill>
                            <a:srgbClr val="1E293B"/>
                          </a:solidFill>
                        </a:rPr>
                        <a:t>$99/yr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45720" tIns="36576" bIns="36576"/>
                    <a:lstStyle/>
                    <a:p>
                      <a:r>
                        <a:rPr sz="1200">
                          <a:solidFill>
                            <a:srgbClr val="1E293B"/>
                          </a:solidFill>
                        </a:rPr>
                        <a:t>Required for App Store + TestFlight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lIns="73152" rIns="45720" tIns="36576" bIns="36576"/>
                    <a:lstStyle/>
                    <a:p>
                      <a:r>
                        <a:rPr sz="1200">
                          <a:solidFill>
                            <a:srgbClr val="1E293B"/>
                          </a:solidFill>
                        </a:rPr>
                        <a:t>Google Play Console</a:t>
                      </a:r>
                    </a:p>
                  </a:txBody>
                  <a:tcPr>
                    <a:solidFill>
                      <a:srgbClr val="F5F3FF"/>
                    </a:solidFill>
                  </a:tcPr>
                </a:tc>
                <a:tc>
                  <a:txBody>
                    <a:bodyPr lIns="73152" rIns="45720" tIns="36576" bIns="36576"/>
                    <a:lstStyle/>
                    <a:p>
                      <a:r>
                        <a:rPr sz="1200">
                          <a:solidFill>
                            <a:srgbClr val="1E293B"/>
                          </a:solidFill>
                        </a:rPr>
                        <a:t>$25 once</a:t>
                      </a:r>
                    </a:p>
                  </a:txBody>
                  <a:tcPr>
                    <a:solidFill>
                      <a:srgbClr val="F5F3FF"/>
                    </a:solidFill>
                  </a:tcPr>
                </a:tc>
                <a:tc>
                  <a:txBody>
                    <a:bodyPr lIns="73152" rIns="45720" tIns="36576" bIns="36576"/>
                    <a:lstStyle/>
                    <a:p>
                      <a:r>
                        <a:rPr sz="1200">
                          <a:solidFill>
                            <a:srgbClr val="1E293B"/>
                          </a:solidFill>
                        </a:rPr>
                        <a:t>Required to publish on Play Store</a:t>
                      </a:r>
                    </a:p>
                  </a:txBody>
                  <a:tcPr>
                    <a:solidFill>
                      <a:srgbClr val="F5F3FF"/>
                    </a:solidFill>
                  </a:tcPr>
                </a:tc>
              </a:tr>
              <a:tr h="329184">
                <a:tc>
                  <a:txBody>
                    <a:bodyPr lIns="73152" rIns="45720" tIns="36576" bIns="36576"/>
                    <a:lstStyle/>
                    <a:p>
                      <a:r>
                        <a:rPr sz="1200">
                          <a:solidFill>
                            <a:srgbClr val="1E293B"/>
                          </a:solidFill>
                        </a:rPr>
                        <a:t>Razorpay account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45720" tIns="36576" bIns="36576"/>
                    <a:lstStyle/>
                    <a:p>
                      <a:r>
                        <a:rPr sz="1200">
                          <a:solidFill>
                            <a:srgbClr val="1E293B"/>
                          </a:solidFill>
                        </a:rPr>
                        <a:t>FREE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45720" tIns="36576" bIns="36576"/>
                    <a:lstStyle/>
                    <a:p>
                      <a:r>
                        <a:rPr sz="1200">
                          <a:solidFill>
                            <a:srgbClr val="1E293B"/>
                          </a:solidFill>
                        </a:rPr>
                        <a:t>2% transaction fee charged per payment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lIns="73152" rIns="45720" tIns="36576" bIns="36576"/>
                    <a:lstStyle/>
                    <a:p>
                      <a:r>
                        <a:rPr sz="1200">
                          <a:solidFill>
                            <a:srgbClr val="1E293B"/>
                          </a:solidFill>
                        </a:rPr>
                        <a:t>Supabase Pro (first month)</a:t>
                      </a:r>
                    </a:p>
                  </a:txBody>
                  <a:tcPr>
                    <a:solidFill>
                      <a:srgbClr val="F5F3FF"/>
                    </a:solidFill>
                  </a:tcPr>
                </a:tc>
                <a:tc>
                  <a:txBody>
                    <a:bodyPr lIns="73152" rIns="45720" tIns="36576" bIns="36576"/>
                    <a:lstStyle/>
                    <a:p>
                      <a:r>
                        <a:rPr sz="1200">
                          <a:solidFill>
                            <a:srgbClr val="1E293B"/>
                          </a:solidFill>
                        </a:rPr>
                        <a:t>$25</a:t>
                      </a:r>
                    </a:p>
                  </a:txBody>
                  <a:tcPr>
                    <a:solidFill>
                      <a:srgbClr val="F5F3FF"/>
                    </a:solidFill>
                  </a:tcPr>
                </a:tc>
                <a:tc>
                  <a:txBody>
                    <a:bodyPr lIns="73152" rIns="45720" tIns="36576" bIns="36576"/>
                    <a:lstStyle/>
                    <a:p>
                      <a:r>
                        <a:rPr sz="1200">
                          <a:solidFill>
                            <a:srgbClr val="1E293B"/>
                          </a:solidFill>
                        </a:rPr>
                        <a:t>Database backups + larger DB quota</a:t>
                      </a:r>
                    </a:p>
                  </a:txBody>
                  <a:tcPr>
                    <a:solidFill>
                      <a:srgbClr val="F5F3FF"/>
                    </a:solidFill>
                  </a:tcPr>
                </a:tc>
              </a:tr>
              <a:tr h="329184">
                <a:tc>
                  <a:txBody>
                    <a:bodyPr lIns="73152" rIns="45720" tIns="36576" bIns="36576"/>
                    <a:lstStyle/>
                    <a:p>
                      <a:r>
                        <a:rPr sz="1200">
                          <a:solidFill>
                            <a:srgbClr val="1E293B"/>
                          </a:solidFill>
                        </a:rPr>
                        <a:t>Resend Pro (first month)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45720" tIns="36576" bIns="36576"/>
                    <a:lstStyle/>
                    <a:p>
                      <a:r>
                        <a:rPr sz="1200">
                          <a:solidFill>
                            <a:srgbClr val="1E293B"/>
                          </a:solidFill>
                        </a:rPr>
                        <a:t>$20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45720" tIns="36576" bIns="36576"/>
                    <a:lstStyle/>
                    <a:p>
                      <a:r>
                        <a:rPr sz="1200">
                          <a:solidFill>
                            <a:srgbClr val="1E293B"/>
                          </a:solidFill>
                        </a:rPr>
                        <a:t>50k emails / month — covers up to ~15k DAU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lIns="73152" rIns="45720" tIns="36576" bIns="36576"/>
                    <a:lstStyle/>
                    <a:p>
                      <a:r>
                        <a:rPr sz="1200">
                          <a:solidFill>
                            <a:srgbClr val="1E293B"/>
                          </a:solidFill>
                        </a:rPr>
                        <a:t>Railway Pro (already paying)</a:t>
                      </a:r>
                    </a:p>
                  </a:txBody>
                  <a:tcPr>
                    <a:solidFill>
                      <a:srgbClr val="F5F3FF"/>
                    </a:solidFill>
                  </a:tcPr>
                </a:tc>
                <a:tc>
                  <a:txBody>
                    <a:bodyPr lIns="73152" rIns="45720" tIns="36576" bIns="36576"/>
                    <a:lstStyle/>
                    <a:p>
                      <a:r>
                        <a:rPr sz="1200">
                          <a:solidFill>
                            <a:srgbClr val="1E293B"/>
                          </a:solidFill>
                        </a:rPr>
                        <a:t>$20</a:t>
                      </a:r>
                    </a:p>
                  </a:txBody>
                  <a:tcPr>
                    <a:solidFill>
                      <a:srgbClr val="F5F3FF"/>
                    </a:solidFill>
                  </a:tcPr>
                </a:tc>
                <a:tc>
                  <a:txBody>
                    <a:bodyPr lIns="73152" rIns="45720" tIns="36576" bIns="36576"/>
                    <a:lstStyle/>
                    <a:p>
                      <a:r>
                        <a:rPr sz="1200">
                          <a:solidFill>
                            <a:srgbClr val="1E293B"/>
                          </a:solidFill>
                        </a:rPr>
                        <a:t>Hosting infrastructure</a:t>
                      </a:r>
                    </a:p>
                  </a:txBody>
                  <a:tcPr>
                    <a:solidFill>
                      <a:srgbClr val="F5F3FF"/>
                    </a:solidFill>
                  </a:tcPr>
                </a:tc>
              </a:tr>
              <a:tr h="329184">
                <a:tc>
                  <a:txBody>
                    <a:bodyPr lIns="73152" rIns="45720" tIns="36576" bIns="36576"/>
                    <a:lstStyle/>
                    <a:p>
                      <a:r>
                        <a:rPr sz="1200">
                          <a:solidFill>
                            <a:srgbClr val="1E293B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45720" tIns="36576" bIns="36576"/>
                    <a:lstStyle/>
                    <a:p>
                      <a:r>
                        <a:rPr sz="1200">
                          <a:solidFill>
                            <a:srgbClr val="1E293B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45720" tIns="36576" bIns="36576"/>
                    <a:lstStyle/>
                    <a:p>
                      <a:r>
                        <a:rPr sz="1200">
                          <a:solidFill>
                            <a:srgbClr val="1E293B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lIns="73152" rIns="45720" tIns="36576" bIns="36576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TOTAL DAY-1 OUT-OF-POCKET</a:t>
                      </a:r>
                    </a:p>
                  </a:txBody>
                  <a:tcPr>
                    <a:solidFill>
                      <a:srgbClr val="7C3AED"/>
                    </a:solidFill>
                  </a:tcPr>
                </a:tc>
                <a:tc>
                  <a:txBody>
                    <a:bodyPr lIns="73152" rIns="45720" tIns="36576" bIns="36576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$214</a:t>
                      </a:r>
                    </a:p>
                  </a:txBody>
                  <a:tcPr>
                    <a:solidFill>
                      <a:srgbClr val="7C3AED"/>
                    </a:solidFill>
                  </a:tcPr>
                </a:tc>
                <a:tc>
                  <a:txBody>
                    <a:bodyPr lIns="73152" rIns="45720" tIns="36576" bIns="36576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$124 one-time + $90 first month subscriptions</a:t>
                      </a:r>
                    </a:p>
                  </a:txBody>
                  <a:tcPr>
                    <a:solidFill>
                      <a:srgbClr val="7C3AED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59436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Calibri"/>
              </a:rPr>
              <a:t>After day 1, you've spent $214. Apple + Play don't repeat; Supabase + Resend + Railway are monthly.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Calibri"/>
              </a:rPr>
              <a:t>NoQx Launch Plan · Prepared 2026-05-22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653796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Calibri"/>
              </a:rPr>
              <a:t>4 / 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Monthly costs at scale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4864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What you'll pay each month as the app grows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274320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400" b="1">
                <a:solidFill>
                  <a:srgbClr val="FFFFFF"/>
                </a:solidFill>
                <a:latin typeface="Calibri"/>
              </a:rPr>
              <a:t>NoQx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280160"/>
          <a:ext cx="1124712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1508760"/>
                <a:gridCol w="1508760"/>
                <a:gridCol w="1508760"/>
                <a:gridCol w="1508760"/>
                <a:gridCol w="1508760"/>
                <a:gridCol w="1508760"/>
              </a:tblGrid>
              <a:tr h="329184">
                <a:tc>
                  <a:txBody>
                    <a:bodyPr lIns="73152" rIns="45720" tIns="36576" bIns="36576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Daily active students</a:t>
                      </a:r>
                    </a:p>
                  </a:txBody>
                  <a:tcPr>
                    <a:solidFill>
                      <a:srgbClr val="7C3AED"/>
                    </a:solidFill>
                  </a:tcPr>
                </a:tc>
                <a:tc>
                  <a:txBody>
                    <a:bodyPr lIns="73152" rIns="45720" tIns="36576" bIns="36576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Railway</a:t>
                      </a:r>
                    </a:p>
                  </a:txBody>
                  <a:tcPr>
                    <a:solidFill>
                      <a:srgbClr val="7C3AED"/>
                    </a:solidFill>
                  </a:tcPr>
                </a:tc>
                <a:tc>
                  <a:txBody>
                    <a:bodyPr lIns="73152" rIns="45720" tIns="36576" bIns="36576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Supabase</a:t>
                      </a:r>
                    </a:p>
                  </a:txBody>
                  <a:tcPr>
                    <a:solidFill>
                      <a:srgbClr val="7C3AED"/>
                    </a:solidFill>
                  </a:tcPr>
                </a:tc>
                <a:tc>
                  <a:txBody>
                    <a:bodyPr lIns="73152" rIns="45720" tIns="36576" bIns="36576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Resend</a:t>
                      </a:r>
                    </a:p>
                  </a:txBody>
                  <a:tcPr>
                    <a:solidFill>
                      <a:srgbClr val="7C3AED"/>
                    </a:solidFill>
                  </a:tcPr>
                </a:tc>
                <a:tc>
                  <a:txBody>
                    <a:bodyPr lIns="73152" rIns="45720" tIns="36576" bIns="36576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Cloudflare</a:t>
                      </a:r>
                    </a:p>
                  </a:txBody>
                  <a:tcPr>
                    <a:solidFill>
                      <a:srgbClr val="7C3AED"/>
                    </a:solidFill>
                  </a:tcPr>
                </a:tc>
                <a:tc>
                  <a:txBody>
                    <a:bodyPr lIns="73152" rIns="45720" tIns="36576" bIns="36576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SMS</a:t>
                      </a:r>
                    </a:p>
                  </a:txBody>
                  <a:tcPr>
                    <a:solidFill>
                      <a:srgbClr val="7C3AED"/>
                    </a:solidFill>
                  </a:tcPr>
                </a:tc>
                <a:tc>
                  <a:txBody>
                    <a:bodyPr lIns="73152" rIns="45720" tIns="36576" bIns="36576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Total</a:t>
                      </a:r>
                    </a:p>
                  </a:txBody>
                  <a:tcPr>
                    <a:solidFill>
                      <a:srgbClr val="7C3AED"/>
                    </a:solidFill>
                  </a:tcPr>
                </a:tc>
              </a:tr>
              <a:tr h="329184">
                <a:tc>
                  <a:txBody>
                    <a:bodyPr lIns="73152" rIns="45720" tIns="36576" bIns="36576"/>
                    <a:lstStyle/>
                    <a:p>
                      <a:r>
                        <a:rPr sz="1200">
                          <a:solidFill>
                            <a:srgbClr val="1E293B"/>
                          </a:solidFill>
                        </a:rPr>
                        <a:t>1,000 DAU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45720" tIns="36576" bIns="36576"/>
                    <a:lstStyle/>
                    <a:p>
                      <a:r>
                        <a:rPr sz="1200">
                          <a:solidFill>
                            <a:srgbClr val="1E293B"/>
                          </a:solidFill>
                        </a:rPr>
                        <a:t>$20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45720" tIns="36576" bIns="36576"/>
                    <a:lstStyle/>
                    <a:p>
                      <a:r>
                        <a:rPr sz="1200">
                          <a:solidFill>
                            <a:srgbClr val="1E293B"/>
                          </a:solidFill>
                        </a:rPr>
                        <a:t>$25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45720" tIns="36576" bIns="36576"/>
                    <a:lstStyle/>
                    <a:p>
                      <a:r>
                        <a:rPr sz="1200">
                          <a:solidFill>
                            <a:srgbClr val="1E293B"/>
                          </a:solidFill>
                        </a:rPr>
                        <a:t>$0 (Free)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45720" tIns="36576" bIns="36576"/>
                    <a:lstStyle/>
                    <a:p>
                      <a:r>
                        <a:rPr sz="1200">
                          <a:solidFill>
                            <a:srgbClr val="1E293B"/>
                          </a:solidFill>
                        </a:rPr>
                        <a:t>$0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45720" tIns="36576" bIns="36576"/>
                    <a:lstStyle/>
                    <a:p>
                      <a:r>
                        <a:rPr sz="1200">
                          <a:solidFill>
                            <a:srgbClr val="1E293B"/>
                          </a:solidFill>
                        </a:rPr>
                        <a:t>$5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45720" tIns="36576" bIns="36576"/>
                    <a:lstStyle/>
                    <a:p>
                      <a:r>
                        <a:rPr sz="1200">
                          <a:solidFill>
                            <a:srgbClr val="1E293B"/>
                          </a:solidFill>
                        </a:rPr>
                        <a:t>$50/mo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lIns="73152" rIns="45720" tIns="36576" bIns="36576"/>
                    <a:lstStyle/>
                    <a:p>
                      <a:r>
                        <a:rPr sz="1200">
                          <a:solidFill>
                            <a:srgbClr val="1E293B"/>
                          </a:solidFill>
                        </a:rPr>
                        <a:t>5,000 DAU</a:t>
                      </a:r>
                    </a:p>
                  </a:txBody>
                  <a:tcPr>
                    <a:solidFill>
                      <a:srgbClr val="F5F3FF"/>
                    </a:solidFill>
                  </a:tcPr>
                </a:tc>
                <a:tc>
                  <a:txBody>
                    <a:bodyPr lIns="73152" rIns="45720" tIns="36576" bIns="36576"/>
                    <a:lstStyle/>
                    <a:p>
                      <a:r>
                        <a:rPr sz="1200">
                          <a:solidFill>
                            <a:srgbClr val="1E293B"/>
                          </a:solidFill>
                        </a:rPr>
                        <a:t>$50</a:t>
                      </a:r>
                    </a:p>
                  </a:txBody>
                  <a:tcPr>
                    <a:solidFill>
                      <a:srgbClr val="F5F3FF"/>
                    </a:solidFill>
                  </a:tcPr>
                </a:tc>
                <a:tc>
                  <a:txBody>
                    <a:bodyPr lIns="73152" rIns="45720" tIns="36576" bIns="36576"/>
                    <a:lstStyle/>
                    <a:p>
                      <a:r>
                        <a:rPr sz="1200">
                          <a:solidFill>
                            <a:srgbClr val="1E293B"/>
                          </a:solidFill>
                        </a:rPr>
                        <a:t>$35</a:t>
                      </a:r>
                    </a:p>
                  </a:txBody>
                  <a:tcPr>
                    <a:solidFill>
                      <a:srgbClr val="F5F3FF"/>
                    </a:solidFill>
                  </a:tcPr>
                </a:tc>
                <a:tc>
                  <a:txBody>
                    <a:bodyPr lIns="73152" rIns="45720" tIns="36576" bIns="36576"/>
                    <a:lstStyle/>
                    <a:p>
                      <a:r>
                        <a:rPr sz="1200">
                          <a:solidFill>
                            <a:srgbClr val="1E293B"/>
                          </a:solidFill>
                        </a:rPr>
                        <a:t>$20</a:t>
                      </a:r>
                    </a:p>
                  </a:txBody>
                  <a:tcPr>
                    <a:solidFill>
                      <a:srgbClr val="F5F3FF"/>
                    </a:solidFill>
                  </a:tcPr>
                </a:tc>
                <a:tc>
                  <a:txBody>
                    <a:bodyPr lIns="73152" rIns="45720" tIns="36576" bIns="36576"/>
                    <a:lstStyle/>
                    <a:p>
                      <a:r>
                        <a:rPr sz="1200">
                          <a:solidFill>
                            <a:srgbClr val="1E293B"/>
                          </a:solidFill>
                        </a:rPr>
                        <a:t>$0</a:t>
                      </a:r>
                    </a:p>
                  </a:txBody>
                  <a:tcPr>
                    <a:solidFill>
                      <a:srgbClr val="F5F3FF"/>
                    </a:solidFill>
                  </a:tcPr>
                </a:tc>
                <a:tc>
                  <a:txBody>
                    <a:bodyPr lIns="73152" rIns="45720" tIns="36576" bIns="36576"/>
                    <a:lstStyle/>
                    <a:p>
                      <a:r>
                        <a:rPr sz="1200">
                          <a:solidFill>
                            <a:srgbClr val="1E293B"/>
                          </a:solidFill>
                        </a:rPr>
                        <a:t>$20</a:t>
                      </a:r>
                    </a:p>
                  </a:txBody>
                  <a:tcPr>
                    <a:solidFill>
                      <a:srgbClr val="F5F3FF"/>
                    </a:solidFill>
                  </a:tcPr>
                </a:tc>
                <a:tc>
                  <a:txBody>
                    <a:bodyPr lIns="73152" rIns="45720" tIns="36576" bIns="36576"/>
                    <a:lstStyle/>
                    <a:p>
                      <a:r>
                        <a:rPr sz="1200">
                          <a:solidFill>
                            <a:srgbClr val="1E293B"/>
                          </a:solidFill>
                        </a:rPr>
                        <a:t>$125/mo</a:t>
                      </a:r>
                    </a:p>
                  </a:txBody>
                  <a:tcPr>
                    <a:solidFill>
                      <a:srgbClr val="F5F3FF"/>
                    </a:solidFill>
                  </a:tcPr>
                </a:tc>
              </a:tr>
              <a:tr h="329184">
                <a:tc>
                  <a:txBody>
                    <a:bodyPr lIns="73152" rIns="45720" tIns="36576" bIns="36576"/>
                    <a:lstStyle/>
                    <a:p>
                      <a:r>
                        <a:rPr sz="1200" b="1">
                          <a:solidFill>
                            <a:srgbClr val="7C3AED"/>
                          </a:solidFill>
                        </a:rPr>
                        <a:t>15,000 DAU</a:t>
                      </a:r>
                    </a:p>
                  </a:txBody>
                  <a:tcPr>
                    <a:solidFill>
                      <a:srgbClr val="F5F3FF"/>
                    </a:solidFill>
                  </a:tcPr>
                </a:tc>
                <a:tc>
                  <a:txBody>
                    <a:bodyPr lIns="73152" rIns="45720" tIns="36576" bIns="36576"/>
                    <a:lstStyle/>
                    <a:p>
                      <a:r>
                        <a:rPr sz="1200" b="1">
                          <a:solidFill>
                            <a:srgbClr val="7C3AED"/>
                          </a:solidFill>
                        </a:rPr>
                        <a:t>$100</a:t>
                      </a:r>
                    </a:p>
                  </a:txBody>
                  <a:tcPr>
                    <a:solidFill>
                      <a:srgbClr val="F5F3FF"/>
                    </a:solidFill>
                  </a:tcPr>
                </a:tc>
                <a:tc>
                  <a:txBody>
                    <a:bodyPr lIns="73152" rIns="45720" tIns="36576" bIns="36576"/>
                    <a:lstStyle/>
                    <a:p>
                      <a:r>
                        <a:rPr sz="1200" b="1">
                          <a:solidFill>
                            <a:srgbClr val="7C3AED"/>
                          </a:solidFill>
                        </a:rPr>
                        <a:t>$85</a:t>
                      </a:r>
                    </a:p>
                  </a:txBody>
                  <a:tcPr>
                    <a:solidFill>
                      <a:srgbClr val="F5F3FF"/>
                    </a:solidFill>
                  </a:tcPr>
                </a:tc>
                <a:tc>
                  <a:txBody>
                    <a:bodyPr lIns="73152" rIns="45720" tIns="36576" bIns="36576"/>
                    <a:lstStyle/>
                    <a:p>
                      <a:r>
                        <a:rPr sz="1200" b="1">
                          <a:solidFill>
                            <a:srgbClr val="7C3AED"/>
                          </a:solidFill>
                        </a:rPr>
                        <a:t>$20</a:t>
                      </a:r>
                    </a:p>
                  </a:txBody>
                  <a:tcPr>
                    <a:solidFill>
                      <a:srgbClr val="F5F3FF"/>
                    </a:solidFill>
                  </a:tcPr>
                </a:tc>
                <a:tc>
                  <a:txBody>
                    <a:bodyPr lIns="73152" rIns="45720" tIns="36576" bIns="36576"/>
                    <a:lstStyle/>
                    <a:p>
                      <a:r>
                        <a:rPr sz="1200" b="1">
                          <a:solidFill>
                            <a:srgbClr val="7C3AED"/>
                          </a:solidFill>
                        </a:rPr>
                        <a:t>$0</a:t>
                      </a:r>
                    </a:p>
                  </a:txBody>
                  <a:tcPr>
                    <a:solidFill>
                      <a:srgbClr val="F5F3FF"/>
                    </a:solidFill>
                  </a:tcPr>
                </a:tc>
                <a:tc>
                  <a:txBody>
                    <a:bodyPr lIns="73152" rIns="45720" tIns="36576" bIns="36576"/>
                    <a:lstStyle/>
                    <a:p>
                      <a:r>
                        <a:rPr sz="1200" b="1">
                          <a:solidFill>
                            <a:srgbClr val="7C3AED"/>
                          </a:solidFill>
                        </a:rPr>
                        <a:t>$50</a:t>
                      </a:r>
                    </a:p>
                  </a:txBody>
                  <a:tcPr>
                    <a:solidFill>
                      <a:srgbClr val="F5F3FF"/>
                    </a:solidFill>
                  </a:tcPr>
                </a:tc>
                <a:tc>
                  <a:txBody>
                    <a:bodyPr lIns="73152" rIns="45720" tIns="36576" bIns="36576"/>
                    <a:lstStyle/>
                    <a:p>
                      <a:r>
                        <a:rPr sz="1200" b="1">
                          <a:solidFill>
                            <a:srgbClr val="7C3AED"/>
                          </a:solidFill>
                        </a:rPr>
                        <a:t>$255/mo</a:t>
                      </a:r>
                    </a:p>
                  </a:txBody>
                  <a:tcPr>
                    <a:solidFill>
                      <a:srgbClr val="F5F3FF"/>
                    </a:solidFill>
                  </a:tcPr>
                </a:tc>
              </a:tr>
              <a:tr h="329184">
                <a:tc>
                  <a:txBody>
                    <a:bodyPr lIns="73152" rIns="45720" tIns="36576" bIns="36576"/>
                    <a:lstStyle/>
                    <a:p>
                      <a:r>
                        <a:rPr sz="1200">
                          <a:solidFill>
                            <a:srgbClr val="1E293B"/>
                          </a:solidFill>
                        </a:rPr>
                        <a:t>50,000 DAU</a:t>
                      </a:r>
                    </a:p>
                  </a:txBody>
                  <a:tcPr>
                    <a:solidFill>
                      <a:srgbClr val="F5F3FF"/>
                    </a:solidFill>
                  </a:tcPr>
                </a:tc>
                <a:tc>
                  <a:txBody>
                    <a:bodyPr lIns="73152" rIns="45720" tIns="36576" bIns="36576"/>
                    <a:lstStyle/>
                    <a:p>
                      <a:r>
                        <a:rPr sz="1200">
                          <a:solidFill>
                            <a:srgbClr val="1E293B"/>
                          </a:solidFill>
                        </a:rPr>
                        <a:t>$300</a:t>
                      </a:r>
                    </a:p>
                  </a:txBody>
                  <a:tcPr>
                    <a:solidFill>
                      <a:srgbClr val="F5F3FF"/>
                    </a:solidFill>
                  </a:tcPr>
                </a:tc>
                <a:tc>
                  <a:txBody>
                    <a:bodyPr lIns="73152" rIns="45720" tIns="36576" bIns="36576"/>
                    <a:lstStyle/>
                    <a:p>
                      <a:r>
                        <a:rPr sz="1200">
                          <a:solidFill>
                            <a:srgbClr val="1E293B"/>
                          </a:solidFill>
                        </a:rPr>
                        <a:t>$135</a:t>
                      </a:r>
                    </a:p>
                  </a:txBody>
                  <a:tcPr>
                    <a:solidFill>
                      <a:srgbClr val="F5F3FF"/>
                    </a:solidFill>
                  </a:tcPr>
                </a:tc>
                <a:tc>
                  <a:txBody>
                    <a:bodyPr lIns="73152" rIns="45720" tIns="36576" bIns="36576"/>
                    <a:lstStyle/>
                    <a:p>
                      <a:r>
                        <a:rPr sz="1200">
                          <a:solidFill>
                            <a:srgbClr val="1E293B"/>
                          </a:solidFill>
                        </a:rPr>
                        <a:t>$99</a:t>
                      </a:r>
                    </a:p>
                  </a:txBody>
                  <a:tcPr>
                    <a:solidFill>
                      <a:srgbClr val="F5F3FF"/>
                    </a:solidFill>
                  </a:tcPr>
                </a:tc>
                <a:tc>
                  <a:txBody>
                    <a:bodyPr lIns="73152" rIns="45720" tIns="36576" bIns="36576"/>
                    <a:lstStyle/>
                    <a:p>
                      <a:r>
                        <a:rPr sz="1200">
                          <a:solidFill>
                            <a:srgbClr val="1E293B"/>
                          </a:solidFill>
                        </a:rPr>
                        <a:t>$20</a:t>
                      </a:r>
                    </a:p>
                  </a:txBody>
                  <a:tcPr>
                    <a:solidFill>
                      <a:srgbClr val="F5F3FF"/>
                    </a:solidFill>
                  </a:tcPr>
                </a:tc>
                <a:tc>
                  <a:txBody>
                    <a:bodyPr lIns="73152" rIns="45720" tIns="36576" bIns="36576"/>
                    <a:lstStyle/>
                    <a:p>
                      <a:r>
                        <a:rPr sz="1200">
                          <a:solidFill>
                            <a:srgbClr val="1E293B"/>
                          </a:solidFill>
                        </a:rPr>
                        <a:t>$150</a:t>
                      </a:r>
                    </a:p>
                  </a:txBody>
                  <a:tcPr>
                    <a:solidFill>
                      <a:srgbClr val="F5F3FF"/>
                    </a:solidFill>
                  </a:tcPr>
                </a:tc>
                <a:tc>
                  <a:txBody>
                    <a:bodyPr lIns="73152" rIns="45720" tIns="36576" bIns="36576"/>
                    <a:lstStyle/>
                    <a:p>
                      <a:r>
                        <a:rPr sz="1200">
                          <a:solidFill>
                            <a:srgbClr val="1E293B"/>
                          </a:solidFill>
                        </a:rPr>
                        <a:t>$704/mo</a:t>
                      </a:r>
                    </a:p>
                  </a:txBody>
                  <a:tcPr>
                    <a:solidFill>
                      <a:srgbClr val="F5F3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402336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E293B"/>
                </a:solidFill>
                <a:latin typeface="Calibri"/>
              </a:rPr>
              <a:t>Resend numbers are MUCH lower than first-pass estimates. We only send email for sign-up OTP + password reset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43484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E293B"/>
                </a:solidFill>
                <a:latin typeface="Calibri"/>
              </a:rPr>
              <a:t>(not order status — that uses in-app bell + FCM push). Realistic volume is ~6% of DAU/day = well within Pro tier.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02920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E293B"/>
                </a:solidFill>
                <a:latin typeface="Calibri"/>
              </a:rPr>
              <a:t>PLUS Razorpay 2% fee on every order. At 15k DAU × ₹80 avg order × 30 days = ₹36L gross/mo → ₹72k Razorpay fee.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48640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Calibri"/>
              </a:rPr>
              <a:t>All services are usage-based: you only pay for what you use. Scale up only as you cross thresholds.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Calibri"/>
              </a:rPr>
              <a:t>NoQx Launch Plan · Prepared 2026-05-22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653796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Calibri"/>
              </a:rPr>
              <a:t>5 / 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What we need from the client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4864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Decisions + content to unblock submission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274320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400" b="1">
                <a:solidFill>
                  <a:srgbClr val="FFFFFF"/>
                </a:solidFill>
                <a:latin typeface="Calibri"/>
              </a:rPr>
              <a:t>NoQx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09728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7C3AED"/>
                </a:solidFill>
                <a:latin typeface="Calibri"/>
              </a:rPr>
              <a:t>DECISIONS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1E293B"/>
                </a:solidFill>
                <a:latin typeface="Calibri"/>
              </a:rPr>
              <a:t>•  Apple Developer enrolment type: Individual or Organization (DUNS required)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8308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1E293B"/>
                </a:solidFill>
                <a:latin typeface="Calibri"/>
              </a:rPr>
              <a:t>•  Razorpay account: KYC documents ready (PAN, GSTIN, bank, director ID)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14884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1E293B"/>
                </a:solidFill>
                <a:latin typeface="Calibri"/>
              </a:rPr>
              <a:t>•  GST registration status: registered yet? If yes, share GSTIN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51460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1E293B"/>
                </a:solidFill>
                <a:latin typeface="Calibri"/>
              </a:rPr>
              <a:t>•  Cookie consent: not needed (DECIDED, see privacy policy §8)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8803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1E293B"/>
                </a:solidFill>
                <a:latin typeface="Calibri"/>
              </a:rPr>
              <a:t>•  FSSAI license number for canteen pages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24612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1E293B"/>
                </a:solidFill>
                <a:latin typeface="Calibri"/>
              </a:rPr>
              <a:t>•  Real first partner canteen: name, address, college, opening hours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61188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1E293B"/>
                </a:solidFill>
                <a:latin typeface="Calibri"/>
              </a:rPr>
              <a:t>•  Payment terms with canteen partner (revenue share %)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109728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7C3AED"/>
                </a:solidFill>
                <a:latin typeface="Calibri"/>
              </a:rPr>
              <a:t>CONTENT TO PROVIDE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141732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1E293B"/>
                </a:solidFill>
                <a:latin typeface="Calibri"/>
              </a:rPr>
              <a:t>•  Real first canteen menu (items + prices + categories)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178308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1E293B"/>
                </a:solidFill>
                <a:latin typeface="Calibri"/>
              </a:rPr>
              <a:t>•  Real canteen photos (3-5 per canteen for student-facing display)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214884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1E293B"/>
                </a:solidFill>
                <a:latin typeface="Calibri"/>
              </a:rPr>
              <a:t>•  App Store "What's New" copy for v1.0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0" y="251460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1E293B"/>
                </a:solidFill>
                <a:latin typeface="Calibri"/>
              </a:rPr>
              <a:t>•  Demo student credentials for App Store reviewer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0" y="28803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1E293B"/>
                </a:solidFill>
                <a:latin typeface="Calibri"/>
              </a:rPr>
              <a:t>•  Privacy contact email + grievance officer name (DPDPA §10)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0" y="324612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1E293B"/>
                </a:solidFill>
                <a:latin typeface="Calibri"/>
              </a:rPr>
              <a:t>•  Apple Developer account credentials (for signing material upload)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0" y="361188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1E293B"/>
                </a:solidFill>
                <a:latin typeface="Calibri"/>
              </a:rPr>
              <a:t>•  Play Console account credentials (for AAB upload)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0" y="397764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1E293B"/>
                </a:solidFill>
                <a:latin typeface="Calibri"/>
              </a:rPr>
              <a:t>•  Razorpay live API keys (after KYC approves)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Calibri"/>
              </a:rPr>
              <a:t>NoQx Launch Plan · Prepared 2026-05-22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653796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Calibri"/>
              </a:rPr>
              <a:t>6 / 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What's complete on the engineering side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4864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All code paths tested, documented, and ready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274320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400" b="1">
                <a:solidFill>
                  <a:srgbClr val="FFFFFF"/>
                </a:solidFill>
                <a:latin typeface="Calibri"/>
              </a:rPr>
              <a:t>NoQx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09728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6A34A"/>
                </a:solidFill>
                <a:latin typeface="Calibri"/>
              </a:rPr>
              <a:t>✓  Web application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0" y="1097280"/>
            <a:ext cx="7863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1E293B"/>
                </a:solidFill>
                <a:latin typeface="Calibri"/>
              </a:rPr>
              <a:t>Live at noqx.co.in. 19/19 smoke tests pass. Cloudflare proxy active.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50876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6A34A"/>
                </a:solidFill>
                <a:latin typeface="Calibri"/>
              </a:rPr>
              <a:t>✓  Mobile builds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0" y="1508760"/>
            <a:ext cx="7863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1E293B"/>
                </a:solidFill>
                <a:latin typeface="Calibri"/>
              </a:rPr>
              <a:t>Both Android APKs build, sign, install. iOS scaffold compile-checks.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92024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6A34A"/>
                </a:solidFill>
                <a:latin typeface="Calibri"/>
              </a:rPr>
              <a:t>✓  Brand assets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80" y="1920240"/>
            <a:ext cx="7863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1E293B"/>
                </a:solidFill>
                <a:latin typeface="Calibri"/>
              </a:rPr>
              <a:t>NoQx logo (with glittering) regenerated across 38 sizes. Splash + feature graphic.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33172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6A34A"/>
                </a:solidFill>
                <a:latin typeface="Calibri"/>
              </a:rPr>
              <a:t>✓  Native role isolation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0480" y="2331720"/>
            <a:ext cx="7863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1E293B"/>
                </a:solidFill>
                <a:latin typeface="Calibri"/>
              </a:rPr>
              <a:t>Student app hides canteen-login UI. Worker app hides student links.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274320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6A34A"/>
                </a:solidFill>
                <a:latin typeface="Calibri"/>
              </a:rPr>
              <a:t>✓  Email delivery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40480" y="2743200"/>
            <a:ext cx="7863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1E293B"/>
                </a:solidFill>
                <a:latin typeface="Calibri"/>
              </a:rPr>
              <a:t>Resend wired + verified. Password reset OTP confirmed live.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15468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6A34A"/>
                </a:solidFill>
                <a:latin typeface="Calibri"/>
              </a:rPr>
              <a:t>✓  Email routing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40480" y="3154680"/>
            <a:ext cx="7863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1E293B"/>
                </a:solidFill>
                <a:latin typeface="Calibri"/>
              </a:rPr>
              <a:t>Cloudflare → support/grievance/privacy@noqx.co.in → forwards verified.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356616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6A34A"/>
                </a:solidFill>
                <a:latin typeface="Calibri"/>
              </a:rPr>
              <a:t>✓  Payment integration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40480" y="3566160"/>
            <a:ext cx="7863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1E293B"/>
                </a:solidFill>
                <a:latin typeface="Calibri"/>
              </a:rPr>
              <a:t>Razorpay test mode working. Live key flip is a 60-second change.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397764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6A34A"/>
                </a:solidFill>
                <a:latin typeface="Calibri"/>
              </a:rPr>
              <a:t>✓  Data safety / privacy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40480" y="3977640"/>
            <a:ext cx="7863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1E293B"/>
                </a:solidFill>
                <a:latin typeface="Calibri"/>
              </a:rPr>
              <a:t>Privacy policy DPDPA-compliant. No third-party trackers. Audited.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438912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6A34A"/>
                </a:solidFill>
                <a:latin typeface="Calibri"/>
              </a:rPr>
              <a:t>✓  Operational runbooks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40480" y="4389120"/>
            <a:ext cx="7863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1E293B"/>
                </a:solidFill>
                <a:latin typeface="Calibri"/>
              </a:rPr>
              <a:t>On-call, rollback, launch-day, FCM re-enable — all written.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480060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6A34A"/>
                </a:solidFill>
                <a:latin typeface="Calibri"/>
              </a:rPr>
              <a:t>✓  Smoke + verify scripts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840480" y="4800600"/>
            <a:ext cx="7863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1E293B"/>
                </a:solidFill>
                <a:latin typeface="Calibri"/>
              </a:rPr>
              <a:t>smoke-test-prod (19 checks). verify-razorpay-flow (5 checks). launch-day-stats.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521208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6A34A"/>
                </a:solidFill>
                <a:latin typeface="Calibri"/>
              </a:rPr>
              <a:t>✓  Deep linking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840480" y="5212080"/>
            <a:ext cx="7863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1E293B"/>
                </a:solidFill>
                <a:latin typeface="Calibri"/>
              </a:rPr>
              <a:t>Android App Links: noqx.co.in/dashboard/* opens directly in app.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562356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6A34A"/>
                </a:solidFill>
                <a:latin typeface="Calibri"/>
              </a:rPr>
              <a:t>✓  UI fixes verified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840480" y="5623560"/>
            <a:ext cx="7863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1E293B"/>
                </a:solidFill>
                <a:latin typeface="Calibri"/>
              </a:rPr>
              <a:t>Worker header safe-area. Old-order invoice fallback. Worker logout routing.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Calibri"/>
              </a:rPr>
              <a:t>NoQx Launch Plan · Prepared 2026-05-22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0" y="653796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Calibri"/>
              </a:rPr>
              <a:t>7 / 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Risks + mitigation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4864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What could delay launch and how we handle 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274320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400" b="1">
                <a:solidFill>
                  <a:srgbClr val="FFFFFF"/>
                </a:solidFill>
                <a:latin typeface="Calibri"/>
              </a:rPr>
              <a:t>NoQx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280160"/>
          <a:ext cx="1124712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1645920"/>
                <a:gridCol w="6400800"/>
              </a:tblGrid>
              <a:tr h="329184">
                <a:tc>
                  <a:txBody>
                    <a:bodyPr lIns="73152" rIns="45720" tIns="36576" bIns="36576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Risk</a:t>
                      </a:r>
                    </a:p>
                  </a:txBody>
                  <a:tcPr>
                    <a:solidFill>
                      <a:srgbClr val="7C3AED"/>
                    </a:solidFill>
                  </a:tcPr>
                </a:tc>
                <a:tc>
                  <a:txBody>
                    <a:bodyPr lIns="73152" rIns="45720" tIns="36576" bIns="36576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Likelihood</a:t>
                      </a:r>
                    </a:p>
                  </a:txBody>
                  <a:tcPr>
                    <a:solidFill>
                      <a:srgbClr val="7C3AED"/>
                    </a:solidFill>
                  </a:tcPr>
                </a:tc>
                <a:tc>
                  <a:txBody>
                    <a:bodyPr lIns="73152" rIns="45720" tIns="36576" bIns="36576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Mitigation</a:t>
                      </a:r>
                    </a:p>
                  </a:txBody>
                  <a:tcPr>
                    <a:solidFill>
                      <a:srgbClr val="7C3AED"/>
                    </a:solidFill>
                  </a:tcPr>
                </a:tc>
              </a:tr>
              <a:tr h="329184">
                <a:tc>
                  <a:txBody>
                    <a:bodyPr lIns="73152" rIns="45720" tIns="36576" bIns="36576"/>
                    <a:lstStyle/>
                    <a:p>
                      <a:r>
                        <a:rPr sz="1000">
                          <a:solidFill>
                            <a:srgbClr val="1E293B"/>
                          </a:solidFill>
                        </a:rPr>
                        <a:t>Apple Dev review stuck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45720" tIns="36576" bIns="36576"/>
                    <a:lstStyle/>
                    <a:p>
                      <a:r>
                        <a:rPr sz="1000">
                          <a:solidFill>
                            <a:srgbClr val="1E293B"/>
                          </a:solidFill>
                        </a:rPr>
                        <a:t>Medium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45720" tIns="36576" bIns="36576"/>
                    <a:lstStyle/>
                    <a:p>
                      <a:r>
                        <a:rPr sz="1000">
                          <a:solidFill>
                            <a:srgbClr val="1E293B"/>
                          </a:solidFill>
                        </a:rPr>
                        <a:t>Apple manual verification rarely takes &gt;48h. Follow-up via dev portal support if delayed.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lIns="73152" rIns="45720" tIns="36576" bIns="36576"/>
                    <a:lstStyle/>
                    <a:p>
                      <a:r>
                        <a:rPr sz="1000">
                          <a:solidFill>
                            <a:srgbClr val="1E293B"/>
                          </a:solidFill>
                        </a:rPr>
                        <a:t>Razorpay KYC rejection</a:t>
                      </a:r>
                    </a:p>
                  </a:txBody>
                  <a:tcPr>
                    <a:solidFill>
                      <a:srgbClr val="F5F3FF"/>
                    </a:solidFill>
                  </a:tcPr>
                </a:tc>
                <a:tc>
                  <a:txBody>
                    <a:bodyPr lIns="73152" rIns="45720" tIns="36576" bIns="36576"/>
                    <a:lstStyle/>
                    <a:p>
                      <a:r>
                        <a:rPr sz="1000">
                          <a:solidFill>
                            <a:srgbClr val="1E293B"/>
                          </a:solidFill>
                        </a:rPr>
                        <a:t>Low</a:t>
                      </a:r>
                    </a:p>
                  </a:txBody>
                  <a:tcPr>
                    <a:solidFill>
                      <a:srgbClr val="F5F3FF"/>
                    </a:solidFill>
                  </a:tcPr>
                </a:tc>
                <a:tc>
                  <a:txBody>
                    <a:bodyPr lIns="73152" rIns="45720" tIns="36576" bIns="36576"/>
                    <a:lstStyle/>
                    <a:p>
                      <a:r>
                        <a:rPr sz="1000">
                          <a:solidFill>
                            <a:srgbClr val="1E293B"/>
                          </a:solidFill>
                        </a:rPr>
                        <a:t>Documents pre-checked. If rejected, re-submit with clearer scans — 24h re-review.</a:t>
                      </a:r>
                    </a:p>
                  </a:txBody>
                  <a:tcPr>
                    <a:solidFill>
                      <a:srgbClr val="F5F3FF"/>
                    </a:solidFill>
                  </a:tcPr>
                </a:tc>
              </a:tr>
              <a:tr h="329184">
                <a:tc>
                  <a:txBody>
                    <a:bodyPr lIns="73152" rIns="45720" tIns="36576" bIns="36576"/>
                    <a:lstStyle/>
                    <a:p>
                      <a:r>
                        <a:rPr sz="1000">
                          <a:solidFill>
                            <a:srgbClr val="1E293B"/>
                          </a:solidFill>
                        </a:rPr>
                        <a:t>App Store rejection round 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45720" tIns="36576" bIns="36576"/>
                    <a:lstStyle/>
                    <a:p>
                      <a:r>
                        <a:rPr sz="1000">
                          <a:solidFill>
                            <a:srgbClr val="1E293B"/>
                          </a:solidFill>
                        </a:rPr>
                        <a:t>Medium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45720" tIns="36576" bIns="36576"/>
                    <a:lstStyle/>
                    <a:p>
                      <a:r>
                        <a:rPr sz="1000">
                          <a:solidFill>
                            <a:srgbClr val="1E293B"/>
                          </a:solidFill>
                        </a:rPr>
                        <a:t>Common: demo credentials missing, IAP confusion. Resubmit fixes in 24-48h.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lIns="73152" rIns="45720" tIns="36576" bIns="36576"/>
                    <a:lstStyle/>
                    <a:p>
                      <a:r>
                        <a:rPr sz="1000">
                          <a:solidFill>
                            <a:srgbClr val="1E293B"/>
                          </a:solidFill>
                        </a:rPr>
                        <a:t>Play Store rejection round 1</a:t>
                      </a:r>
                    </a:p>
                  </a:txBody>
                  <a:tcPr>
                    <a:solidFill>
                      <a:srgbClr val="F5F3FF"/>
                    </a:solidFill>
                  </a:tcPr>
                </a:tc>
                <a:tc>
                  <a:txBody>
                    <a:bodyPr lIns="73152" rIns="45720" tIns="36576" bIns="36576"/>
                    <a:lstStyle/>
                    <a:p>
                      <a:r>
                        <a:rPr sz="1000">
                          <a:solidFill>
                            <a:srgbClr val="1E293B"/>
                          </a:solidFill>
                        </a:rPr>
                        <a:t>Low</a:t>
                      </a:r>
                    </a:p>
                  </a:txBody>
                  <a:tcPr>
                    <a:solidFill>
                      <a:srgbClr val="F5F3FF"/>
                    </a:solidFill>
                  </a:tcPr>
                </a:tc>
                <a:tc>
                  <a:txBody>
                    <a:bodyPr lIns="73152" rIns="45720" tIns="36576" bIns="36576"/>
                    <a:lstStyle/>
                    <a:p>
                      <a:r>
                        <a:rPr sz="1000">
                          <a:solidFill>
                            <a:srgbClr val="1E293B"/>
                          </a:solidFill>
                        </a:rPr>
                        <a:t>Data-safety form pre-prepared. Mostly accepted on first try.</a:t>
                      </a:r>
                    </a:p>
                  </a:txBody>
                  <a:tcPr>
                    <a:solidFill>
                      <a:srgbClr val="F5F3FF"/>
                    </a:solidFill>
                  </a:tcPr>
                </a:tc>
              </a:tr>
              <a:tr h="329184">
                <a:tc>
                  <a:txBody>
                    <a:bodyPr lIns="73152" rIns="45720" tIns="36576" bIns="36576"/>
                    <a:lstStyle/>
                    <a:p>
                      <a:r>
                        <a:rPr sz="1000">
                          <a:solidFill>
                            <a:srgbClr val="1E293B"/>
                          </a:solidFill>
                        </a:rPr>
                        <a:t>Razorpay live test fails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45720" tIns="36576" bIns="36576"/>
                    <a:lstStyle/>
                    <a:p>
                      <a:r>
                        <a:rPr sz="1000">
                          <a:solidFill>
                            <a:srgbClr val="1E293B"/>
                          </a:solidFill>
                        </a:rPr>
                        <a:t>Low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45720" tIns="36576" bIns="36576"/>
                    <a:lstStyle/>
                    <a:p>
                      <a:r>
                        <a:rPr sz="1000">
                          <a:solidFill>
                            <a:srgbClr val="1E293B"/>
                          </a:solidFill>
                        </a:rPr>
                        <a:t>Test mode flow validated; live flow uses same code path. Rollback to test mode in 60 sec if needed.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lIns="73152" rIns="45720" tIns="36576" bIns="36576"/>
                    <a:lstStyle/>
                    <a:p>
                      <a:r>
                        <a:rPr sz="1000">
                          <a:solidFill>
                            <a:srgbClr val="1E293B"/>
                          </a:solidFill>
                        </a:rPr>
                        <a:t>Cloudflare DNS propagation</a:t>
                      </a:r>
                    </a:p>
                  </a:txBody>
                  <a:tcPr>
                    <a:solidFill>
                      <a:srgbClr val="F5F3FF"/>
                    </a:solidFill>
                  </a:tcPr>
                </a:tc>
                <a:tc>
                  <a:txBody>
                    <a:bodyPr lIns="73152" rIns="45720" tIns="36576" bIns="36576"/>
                    <a:lstStyle/>
                    <a:p>
                      <a:r>
                        <a:rPr sz="1000">
                          <a:solidFill>
                            <a:srgbClr val="1E293B"/>
                          </a:solidFill>
                        </a:rPr>
                        <a:t>Already done</a:t>
                      </a:r>
                    </a:p>
                  </a:txBody>
                  <a:tcPr>
                    <a:solidFill>
                      <a:srgbClr val="F5F3FF"/>
                    </a:solidFill>
                  </a:tcPr>
                </a:tc>
                <a:tc>
                  <a:txBody>
                    <a:bodyPr lIns="73152" rIns="45720" tIns="36576" bIns="36576"/>
                    <a:lstStyle/>
                    <a:p>
                      <a:r>
                        <a:rPr sz="1000">
                          <a:solidFill>
                            <a:srgbClr val="1E293B"/>
                          </a:solidFill>
                        </a:rPr>
                        <a:t>Zone live since 2026-05-20. No further action.</a:t>
                      </a:r>
                    </a:p>
                  </a:txBody>
                  <a:tcPr>
                    <a:solidFill>
                      <a:srgbClr val="F5F3FF"/>
                    </a:solidFill>
                  </a:tcPr>
                </a:tc>
              </a:tr>
              <a:tr h="329184">
                <a:tc>
                  <a:txBody>
                    <a:bodyPr lIns="73152" rIns="45720" tIns="36576" bIns="36576"/>
                    <a:lstStyle/>
                    <a:p>
                      <a:r>
                        <a:rPr sz="1000">
                          <a:solidFill>
                            <a:srgbClr val="1E293B"/>
                          </a:solidFill>
                        </a:rPr>
                        <a:t>DB data loss before backups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45720" tIns="36576" bIns="36576"/>
                    <a:lstStyle/>
                    <a:p>
                      <a:r>
                        <a:rPr sz="1000">
                          <a:solidFill>
                            <a:srgbClr val="1E293B"/>
                          </a:solidFill>
                        </a:rPr>
                        <a:t>HIGH → mitigated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45720" tIns="36576" bIns="36576"/>
                    <a:lstStyle/>
                    <a:p>
                      <a:r>
                        <a:rPr sz="1000">
                          <a:solidFill>
                            <a:srgbClr val="1E293B"/>
                          </a:solidFill>
                        </a:rPr>
                        <a:t>Supabase Pro upgrade BLOCKS launch. Day-0 action item.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lIns="73152" rIns="45720" tIns="36576" bIns="36576"/>
                    <a:lstStyle/>
                    <a:p>
                      <a:r>
                        <a:rPr sz="1000">
                          <a:solidFill>
                            <a:srgbClr val="1E293B"/>
                          </a:solidFill>
                        </a:rPr>
                        <a:t>First-week traffic spike</a:t>
                      </a:r>
                    </a:p>
                  </a:txBody>
                  <a:tcPr>
                    <a:solidFill>
                      <a:srgbClr val="F5F3FF"/>
                    </a:solidFill>
                  </a:tcPr>
                </a:tc>
                <a:tc>
                  <a:txBody>
                    <a:bodyPr lIns="73152" rIns="45720" tIns="36576" bIns="36576"/>
                    <a:lstStyle/>
                    <a:p>
                      <a:r>
                        <a:rPr sz="1000">
                          <a:solidFill>
                            <a:srgbClr val="1E293B"/>
                          </a:solidFill>
                        </a:rPr>
                        <a:t>Low (1 canteen)</a:t>
                      </a:r>
                    </a:p>
                  </a:txBody>
                  <a:tcPr>
                    <a:solidFill>
                      <a:srgbClr val="F5F3FF"/>
                    </a:solidFill>
                  </a:tcPr>
                </a:tc>
                <a:tc>
                  <a:txBody>
                    <a:bodyPr lIns="73152" rIns="45720" tIns="36576" bIns="36576"/>
                    <a:lstStyle/>
                    <a:p>
                      <a:r>
                        <a:rPr sz="1000">
                          <a:solidFill>
                            <a:srgbClr val="1E293B"/>
                          </a:solidFill>
                        </a:rPr>
                        <a:t>Cloudflare absorbs at edge. Railway scales to 70% CPU before we'd notice.</a:t>
                      </a:r>
                    </a:p>
                  </a:txBody>
                  <a:tcPr>
                    <a:solidFill>
                      <a:srgbClr val="F5F3FF"/>
                    </a:solidFill>
                  </a:tcPr>
                </a:tc>
              </a:tr>
              <a:tr h="329184">
                <a:tc>
                  <a:txBody>
                    <a:bodyPr lIns="73152" rIns="45720" tIns="36576" bIns="36576"/>
                    <a:lstStyle/>
                    <a:p>
                      <a:r>
                        <a:rPr sz="1000">
                          <a:solidFill>
                            <a:srgbClr val="1E293B"/>
                          </a:solidFill>
                        </a:rPr>
                        <a:t>FCM push not enabled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45720" tIns="36576" bIns="36576"/>
                    <a:lstStyle/>
                    <a:p>
                      <a:r>
                        <a:rPr sz="1000">
                          <a:solidFill>
                            <a:srgbClr val="1E293B"/>
                          </a:solidFill>
                        </a:rPr>
                        <a:t>Accepted v1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45720" tIns="36576" bIns="36576"/>
                    <a:lstStyle/>
                    <a:p>
                      <a:r>
                        <a:rPr sz="1000">
                          <a:solidFill>
                            <a:srgbClr val="1E293B"/>
                          </a:solidFill>
                        </a:rPr>
                        <a:t>Users refresh app to see updates. Re-enable in v1.1 per FCM_REENABLEMENT.md.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Calibri"/>
              </a:rPr>
              <a:t>NoQx Launch Plan · Prepared 2026-05-22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653796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Calibri"/>
              </a:rPr>
              <a:t>8 / 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Post-launch monitoring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4864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First 30 days are critical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274320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400" b="1">
                <a:solidFill>
                  <a:srgbClr val="FFFFFF"/>
                </a:solidFill>
                <a:latin typeface="Calibri"/>
              </a:rPr>
              <a:t>NoQx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188720"/>
            <a:ext cx="5669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7C3AED"/>
                </a:solidFill>
                <a:latin typeface="Calibri"/>
              </a:rPr>
              <a:t>DAILY (first 7 days)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55448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1E293B"/>
                </a:solidFill>
                <a:latin typeface="Calibri"/>
              </a:rPr>
              <a:t>•  Run launch-day-stats script (orders, payments, signups)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92024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1E293B"/>
                </a:solidFill>
                <a:latin typeface="Calibri"/>
              </a:rPr>
              <a:t>•  Check Razorpay dashboard for failed payments (target &lt;5%)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28600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1E293B"/>
                </a:solidFill>
                <a:latin typeface="Calibri"/>
              </a:rPr>
              <a:t>•  Check Resend dashboard for email bounce rate (target &lt;2%)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6517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1E293B"/>
                </a:solidFill>
                <a:latin typeface="Calibri"/>
              </a:rPr>
              <a:t>•  Review UptimeRobot for any downtime alerts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01752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1E293B"/>
                </a:solidFill>
                <a:latin typeface="Calibri"/>
              </a:rPr>
              <a:t>•  Triage any customer support tickets &lt;4h response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1188720"/>
            <a:ext cx="5669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7C3AED"/>
                </a:solidFill>
                <a:latin typeface="Calibri"/>
              </a:rPr>
              <a:t>WEEKLY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155448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1E293B"/>
                </a:solidFill>
                <a:latin typeface="Calibri"/>
              </a:rPr>
              <a:t>•  Review Railway usage (CPU, memory, egress trending)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192024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1E293B"/>
                </a:solidFill>
                <a:latin typeface="Calibri"/>
              </a:rPr>
              <a:t>•  Review Supabase DB size + query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228600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1E293B"/>
                </a:solidFill>
                <a:latin typeface="Calibri"/>
              </a:rPr>
              <a:t>•  Customer retention metric (DAU, WAU)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26517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1E293B"/>
                </a:solidFill>
                <a:latin typeface="Calibri"/>
              </a:rPr>
              <a:t>•  Operational retro: any new edge cases? Update runbooks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301752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1E293B"/>
                </a:solidFill>
                <a:latin typeface="Calibri"/>
              </a:rPr>
              <a:t>•  Plan v1.1 fixes based on production feedback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420624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D97706"/>
                </a:solidFill>
                <a:latin typeface="Calibri"/>
              </a:rPr>
              <a:t>FIRST 30 DAYS: enable FCM push notifications (FCM_REENABLEMENT.md)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461772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Calibri"/>
              </a:rPr>
              <a:t>Cuts Resend email volume by ~70% (saves ~$300/mo at 15k DAU). Requires Firebase project + 7 implementation steps.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21208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7C3AED"/>
                </a:solidFill>
                <a:latin typeface="Calibri"/>
              </a:rPr>
              <a:t>QUARTERLY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557784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1E293B"/>
                </a:solidFill>
                <a:latin typeface="Calibri"/>
              </a:rPr>
              <a:t>•  Audit Cloudflare WAF rules · rotate keystore backup verification · review pricing-tier upgrade thresholds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Calibri"/>
              </a:rPr>
              <a:t>NoQx Launch Plan · Prepared 2026-05-22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653796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Calibri"/>
              </a:rPr>
              <a:t>9 / 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5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640080"/>
            <a:ext cx="12188952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  <a:latin typeface="Calibri"/>
              </a:rPr>
              <a:t>Next 24 hours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371600"/>
            <a:ext cx="1218895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C4B5FD"/>
                </a:solidFill>
                <a:latin typeface="Calibri"/>
              </a:rPr>
              <a:t>These four sign-ups start all wait-clocks in parallel. Do them this morning.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286000"/>
            <a:ext cx="5212080" cy="1737360"/>
          </a:xfrm>
          <a:prstGeom prst="roundRect">
            <a:avLst>
              <a:gd name="adj" fmla="val 7000"/>
            </a:avLst>
          </a:prstGeom>
          <a:solidFill>
            <a:srgbClr val="2D2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423160"/>
            <a:ext cx="48463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1. Apple Developer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83464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C4B5FD"/>
                </a:solidFill>
                <a:latin typeface="Calibri"/>
              </a:rPr>
              <a:t>$99/yr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20040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A7A3FF"/>
                </a:solidFill>
                <a:latin typeface="Calibri"/>
              </a:rPr>
              <a:t>developer.apple.com/programs/enroll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56616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  <a:latin typeface="Calibri"/>
              </a:rPr>
              <a:t>⏱  24-48h activation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0" y="2286000"/>
            <a:ext cx="5212080" cy="1737360"/>
          </a:xfrm>
          <a:prstGeom prst="roundRect">
            <a:avLst>
              <a:gd name="adj" fmla="val 7000"/>
            </a:avLst>
          </a:prstGeom>
          <a:solidFill>
            <a:srgbClr val="2D2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0" y="2423160"/>
            <a:ext cx="48463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2. Razorpay KYC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0" y="283464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C4B5FD"/>
                </a:solidFill>
                <a:latin typeface="Calibri"/>
              </a:rPr>
              <a:t>Free signup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320040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A7A3FF"/>
                </a:solidFill>
                <a:latin typeface="Calibri"/>
              </a:rPr>
              <a:t>dashboard.razorpay.com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5120" y="356616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  <a:latin typeface="Calibri"/>
              </a:rPr>
              <a:t>⏱  3-7 day review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297680"/>
            <a:ext cx="5212080" cy="1737360"/>
          </a:xfrm>
          <a:prstGeom prst="roundRect">
            <a:avLst>
              <a:gd name="adj" fmla="val 7000"/>
            </a:avLst>
          </a:prstGeom>
          <a:solidFill>
            <a:srgbClr val="2D2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434840"/>
            <a:ext cx="48463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3. Play Console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84632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C4B5FD"/>
                </a:solidFill>
                <a:latin typeface="Calibri"/>
              </a:rPr>
              <a:t>$25 one-time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521208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A7A3FF"/>
                </a:solidFill>
                <a:latin typeface="Calibri"/>
              </a:rPr>
              <a:t>play.google.com/console/signup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557784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  <a:latin typeface="Calibri"/>
              </a:rPr>
              <a:t>⏱  Same-day activation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0" y="4297680"/>
            <a:ext cx="5212080" cy="1737360"/>
          </a:xfrm>
          <a:prstGeom prst="roundRect">
            <a:avLst>
              <a:gd name="adj" fmla="val 7000"/>
            </a:avLst>
          </a:prstGeom>
          <a:solidFill>
            <a:srgbClr val="2D2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75120" y="4434840"/>
            <a:ext cx="48463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4. Supabase Pro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75120" y="484632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C4B5FD"/>
                </a:solidFill>
                <a:latin typeface="Calibri"/>
              </a:rPr>
              <a:t>$25/mo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0" y="521208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A7A3FF"/>
                </a:solidFill>
                <a:latin typeface="Calibri"/>
              </a:rPr>
              <a:t>supabase.com/dashboard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75120" y="557784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  <a:latin typeface="Calibri"/>
              </a:rPr>
              <a:t>⏱  Immediate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0" y="6217920"/>
            <a:ext cx="1218895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C4B5FD"/>
                </a:solidFill>
                <a:latin typeface="Calibri"/>
              </a:rPr>
              <a:t>Total this morning: $124 + 90 minutes of clicking. After that you're waiting on external reviews.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0" y="6537960"/>
            <a:ext cx="1218895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94A3B8"/>
                </a:solidFill>
                <a:latin typeface="Calibri"/>
              </a:rPr>
              <a:t>Detailed steps in docs/LAUNCH_CRITICAL_PATH.md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