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1247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 i="0">
                <a:solidFill>
                  <a:srgbClr val="FFFFFF"/>
                </a:solidFill>
              </a:rPr>
              <a:t>Razorpay Integration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56616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</a:rPr>
              <a:t>End-to-end activation plan for Canteen-Application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20624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>
                <a:solidFill>
                  <a:srgbClr val="FFFFFF"/>
                </a:solidFill>
              </a:rPr>
              <a:t>From signup to live payments · who does what · timeline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21792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FFFFFF"/>
                </a:solidFill>
              </a:rPr>
              <a:t>Prepared for the NoQx Technologies operator team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What this deck covers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>
                <a:solidFill>
                  <a:srgbClr val="0F172A"/>
                </a:solidFill>
              </a:rPr>
              <a:t>• What Razorpay does for us (payments, refunds, disputes, settlement)</a:t>
            </a:r>
          </a:p>
          <a:p>
            <a:pPr algn="l"/>
            <a:r>
              <a:rPr sz="1800">
                <a:solidFill>
                  <a:srgbClr val="0F172A"/>
                </a:solidFill>
              </a:rPr>
              <a:t>• Which plan to buy and why</a:t>
            </a:r>
          </a:p>
          <a:p>
            <a:pPr algn="l"/>
            <a:r>
              <a:rPr sz="1800">
                <a:solidFill>
                  <a:srgbClr val="0F172A"/>
                </a:solidFill>
              </a:rPr>
              <a:t>• KYC documents required (Business + Individual)</a:t>
            </a:r>
          </a:p>
          <a:p>
            <a:pPr algn="l"/>
            <a:r>
              <a:rPr sz="1800">
                <a:solidFill>
                  <a:srgbClr val="0F172A"/>
                </a:solidFill>
              </a:rPr>
              <a:t>• Step-by-step activation timeline (operator dashboard work)</a:t>
            </a:r>
          </a:p>
          <a:p>
            <a:pPr algn="l"/>
            <a:r>
              <a:rPr sz="1800">
                <a:solidFill>
                  <a:srgbClr val="0F172A"/>
                </a:solidFill>
              </a:rPr>
              <a:t>• What the code already handles (no dev work needed)</a:t>
            </a:r>
          </a:p>
          <a:p>
            <a:pPr algn="l"/>
            <a:r>
              <a:rPr sz="1800">
                <a:solidFill>
                  <a:srgbClr val="0F172A"/>
                </a:solidFill>
              </a:rPr>
              <a:t>• What the operator must do per environment</a:t>
            </a:r>
          </a:p>
          <a:p>
            <a:pPr algn="l"/>
            <a:r>
              <a:rPr sz="1800">
                <a:solidFill>
                  <a:srgbClr val="0F172A"/>
                </a:solidFill>
              </a:rPr>
              <a:t>• Cost model and what to watch on the dashboard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4748B"/>
                </a:solidFill>
              </a:rPr>
              <a:t>Canteen-Application · Razorpay Integration Playbook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64922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4748B"/>
                </a:solidFill>
              </a:rPr>
              <a:t>2 / 18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Why Razorpay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>
                <a:solidFill>
                  <a:srgbClr val="0F172A"/>
                </a:solidFill>
              </a:rPr>
              <a:t>• Accepts UPI, all major credit/debit cards, netbanking, all wallets, EMI</a:t>
            </a:r>
          </a:p>
          <a:p>
            <a:pPr algn="l"/>
            <a:r>
              <a:rPr sz="1800">
                <a:solidFill>
                  <a:srgbClr val="0F172A"/>
                </a:solidFill>
              </a:rPr>
              <a:t>• Auto-refunds failed authentications — customer never loses money on a failed transaction</a:t>
            </a:r>
          </a:p>
          <a:p>
            <a:pPr algn="l"/>
            <a:r>
              <a:rPr sz="1800">
                <a:solidFill>
                  <a:srgbClr val="0F172A"/>
                </a:solidFill>
              </a:rPr>
              <a:t>• Customer-initiated refund flow handled by us via Razorpay API (already coded)</a:t>
            </a:r>
          </a:p>
          <a:p>
            <a:pPr algn="l"/>
            <a:r>
              <a:rPr sz="1800">
                <a:solidFill>
                  <a:srgbClr val="0F172A"/>
                </a:solidFill>
              </a:rPr>
              <a:t>• Disputes (chargebacks) handled inside Razorpay dashboard — we just upload evidence</a:t>
            </a:r>
          </a:p>
          <a:p>
            <a:pPr algn="l"/>
            <a:r>
              <a:rPr sz="1800">
                <a:solidFill>
                  <a:srgbClr val="0F172A"/>
                </a:solidFill>
              </a:rPr>
              <a:t>• Settlements to our current account daily/weekly (T+2 default)</a:t>
            </a:r>
          </a:p>
          <a:p>
            <a:pPr algn="l"/>
            <a:r>
              <a:rPr sz="1800">
                <a:solidFill>
                  <a:srgbClr val="0F172A"/>
                </a:solidFill>
              </a:rPr>
              <a:t>• PCI compliance handled by Razorpay — card details never touch our server</a:t>
            </a:r>
          </a:p>
          <a:p>
            <a:pPr algn="l"/>
            <a:r>
              <a:rPr sz="1800">
                <a:solidFill>
                  <a:srgbClr val="0F172A"/>
                </a:solidFill>
              </a:rPr>
              <a:t>• Built-in fraud detection on every transaction</a:t>
            </a:r>
          </a:p>
          <a:p>
            <a:pPr algn="l"/>
            <a:r>
              <a:rPr sz="1800">
                <a:solidFill>
                  <a:srgbClr val="0F172A"/>
                </a:solidFill>
              </a:rPr>
              <a:t>• Webhook system keeps our DB in sync with payment + refund state automatically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4748B"/>
                </a:solidFill>
              </a:rPr>
              <a:t>Canteen-Application · Razorpay Integration Playbook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64922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4748B"/>
                </a:solidFill>
              </a:rPr>
              <a:t>3 / 18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Which plan to buy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FFFFFF"/>
                </a:solidFill>
              </a:rPr>
              <a:t>Razorpay Standard is enough — switch later only if volumes justify it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143000"/>
            <a:ext cx="3703320" cy="512064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280160"/>
            <a:ext cx="3337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6A34A"/>
                </a:solidFill>
              </a:rPr>
              <a:t>Standard ✅ RECOMMENDED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783080"/>
            <a:ext cx="33375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</a:rPr>
              <a:t>Pricing:</a:t>
            </a:r>
          </a:p>
          <a:p>
            <a:pPr algn="l"/>
            <a:r>
              <a:rPr sz="1100" b="0" i="0">
                <a:solidFill>
                  <a:srgbClr val="0F172A"/>
                </a:solidFill>
              </a:rPr>
              <a:t>UPI: 2%</a:t>
            </a:r>
          </a:p>
          <a:p>
            <a:pPr algn="l"/>
            <a:r>
              <a:rPr sz="1100" b="0" i="0">
                <a:solidFill>
                  <a:srgbClr val="0F172A"/>
                </a:solidFill>
              </a:rPr>
              <a:t>Cards / Netbanking / Wallets: 2%</a:t>
            </a:r>
          </a:p>
          <a:p>
            <a:pPr algn="l"/>
            <a:r>
              <a:rPr sz="1100" b="0" i="0">
                <a:solidFill>
                  <a:srgbClr val="0F172A"/>
                </a:solidFill>
              </a:rPr>
              <a:t>Intl. cards: 3%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788920"/>
            <a:ext cx="333756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</a:rPr>
              <a:t>What you get:</a:t>
            </a:r>
          </a:p>
          <a:p>
            <a:pPr algn="l"/>
            <a:r>
              <a:rPr sz="1100" b="0" i="0">
                <a:solidFill>
                  <a:srgbClr val="0F172A"/>
                </a:solidFill>
              </a:rPr>
              <a:t>All payment methods</a:t>
            </a:r>
          </a:p>
          <a:p>
            <a:pPr algn="l"/>
            <a:r>
              <a:rPr sz="1100" b="0" i="0">
                <a:solidFill>
                  <a:srgbClr val="0F172A"/>
                </a:solidFill>
              </a:rPr>
              <a:t>Refunds (instant + normal)</a:t>
            </a:r>
          </a:p>
          <a:p>
            <a:pPr algn="l"/>
            <a:r>
              <a:rPr sz="1100" b="0" i="0">
                <a:solidFill>
                  <a:srgbClr val="0F172A"/>
                </a:solidFill>
              </a:rPr>
              <a:t>Disputes handling</a:t>
            </a:r>
          </a:p>
          <a:p>
            <a:pPr algn="l"/>
            <a:r>
              <a:rPr sz="1100" b="0" i="0">
                <a:solidFill>
                  <a:srgbClr val="0F172A"/>
                </a:solidFill>
              </a:rPr>
              <a:t>Webhooks + dashboard</a:t>
            </a:r>
          </a:p>
          <a:p>
            <a:pPr algn="l"/>
            <a:r>
              <a:rPr sz="1100" b="0" i="0">
                <a:solidFill>
                  <a:srgbClr val="0F172A"/>
                </a:solidFill>
              </a:rPr>
              <a:t>T+2 settlement</a:t>
            </a:r>
          </a:p>
          <a:p>
            <a:pPr algn="l"/>
            <a:r>
              <a:rPr sz="1100" b="0" i="0">
                <a:solidFill>
                  <a:srgbClr val="0F172A"/>
                </a:solidFill>
              </a:rPr>
              <a:t>Basic risk monitoring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709160"/>
            <a:ext cx="333756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0F172A"/>
                </a:solidFill>
              </a:rPr>
              <a:t>Verdict:</a:t>
            </a:r>
          </a:p>
          <a:p>
            <a:pPr algn="l"/>
            <a:r>
              <a:rPr sz="1100" b="0" i="1">
                <a:solidFill>
                  <a:srgbClr val="0F172A"/>
                </a:solidFill>
              </a:rPr>
              <a:t>Right for us today. No monthly fee — pay per transaction. Standard covers every refund / dispute / fraud scenario we discussed.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06240" y="1143000"/>
            <a:ext cx="3703320" cy="512064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6474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89120" y="1280160"/>
            <a:ext cx="3337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64748B"/>
                </a:solidFill>
              </a:rPr>
              <a:t>Pro / Enterprise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0" y="1783080"/>
            <a:ext cx="33375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</a:rPr>
              <a:t>Pricing:</a:t>
            </a:r>
          </a:p>
          <a:p>
            <a:pPr algn="l"/>
            <a:r>
              <a:rPr sz="1100" b="0" i="0">
                <a:solidFill>
                  <a:srgbClr val="0F172A"/>
                </a:solidFill>
              </a:rPr>
              <a:t>Custom (1.6–1.8% range)</a:t>
            </a:r>
          </a:p>
          <a:p>
            <a:pPr algn="l"/>
            <a:r>
              <a:rPr sz="1100" b="0" i="0">
                <a:solidFill>
                  <a:srgbClr val="0F172A"/>
                </a:solidFill>
              </a:rPr>
              <a:t>Direct-negotiate with Razorpay sales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20" y="2788920"/>
            <a:ext cx="333756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</a:rPr>
              <a:t>What you get:</a:t>
            </a:r>
          </a:p>
          <a:p>
            <a:pPr algn="l"/>
            <a:r>
              <a:rPr sz="1100" b="0" i="0">
                <a:solidFill>
                  <a:srgbClr val="0F172A"/>
                </a:solidFill>
              </a:rPr>
              <a:t>Lower rates</a:t>
            </a:r>
          </a:p>
          <a:p>
            <a:pPr algn="l"/>
            <a:r>
              <a:rPr sz="1100" b="0" i="0">
                <a:solidFill>
                  <a:srgbClr val="0F172A"/>
                </a:solidFill>
              </a:rPr>
              <a:t>Priority support</a:t>
            </a:r>
          </a:p>
          <a:p>
            <a:pPr algn="l"/>
            <a:r>
              <a:rPr sz="1100" b="0" i="0">
                <a:solidFill>
                  <a:srgbClr val="0F172A"/>
                </a:solidFill>
              </a:rPr>
              <a:t>Dedicated account manager</a:t>
            </a:r>
          </a:p>
          <a:p>
            <a:pPr algn="l"/>
            <a:r>
              <a:rPr sz="1100" b="0" i="0">
                <a:solidFill>
                  <a:srgbClr val="0F172A"/>
                </a:solidFill>
              </a:rPr>
              <a:t>Advanced analytics</a:t>
            </a:r>
          </a:p>
          <a:p>
            <a:pPr algn="l"/>
            <a:r>
              <a:rPr sz="1100" b="0" i="0">
                <a:solidFill>
                  <a:srgbClr val="0F172A"/>
                </a:solidFill>
              </a:rPr>
              <a:t>Smart routing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20" y="4709160"/>
            <a:ext cx="333756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0F172A"/>
                </a:solidFill>
              </a:rPr>
              <a:t>Verdict:</a:t>
            </a:r>
          </a:p>
          <a:p>
            <a:pPr algn="l"/>
            <a:r>
              <a:rPr sz="1100" b="0" i="1">
                <a:solidFill>
                  <a:srgbClr val="0F172A"/>
                </a:solidFill>
              </a:rPr>
              <a:t>Only worth it once monthly volume crosses ~₹50 lakh. Revisit after 3–6 months live.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1143000"/>
            <a:ext cx="3703320" cy="512064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6474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0" y="1280160"/>
            <a:ext cx="3337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64748B"/>
                </a:solidFill>
              </a:rPr>
              <a:t>Subscriptions add-on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1783080"/>
            <a:ext cx="33375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</a:rPr>
              <a:t>Pricing:</a:t>
            </a:r>
          </a:p>
          <a:p>
            <a:pPr algn="l"/>
            <a:r>
              <a:rPr sz="1100" b="0" i="0">
                <a:solidFill>
                  <a:srgbClr val="0F172A"/>
                </a:solidFill>
              </a:rPr>
              <a:t>Small fixed monthly fee per</a:t>
            </a:r>
          </a:p>
          <a:p>
            <a:pPr algn="l"/>
            <a:r>
              <a:rPr sz="1100" b="0" i="0">
                <a:solidFill>
                  <a:srgbClr val="0F172A"/>
                </a:solidFill>
              </a:rPr>
              <a:t>active subscription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2788920"/>
            <a:ext cx="333756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</a:rPr>
              <a:t>What you get:</a:t>
            </a:r>
          </a:p>
          <a:p>
            <a:pPr algn="l"/>
            <a:r>
              <a:rPr sz="1100" b="0" i="0">
                <a:solidFill>
                  <a:srgbClr val="0F172A"/>
                </a:solidFill>
              </a:rPr>
              <a:t>Recurring auto-debit billing</a:t>
            </a:r>
          </a:p>
          <a:p>
            <a:pPr algn="l"/>
            <a:r>
              <a:rPr sz="1100" b="0" i="0">
                <a:solidFill>
                  <a:srgbClr val="0F172A"/>
                </a:solidFill>
              </a:rPr>
              <a:t>Mandate management</a:t>
            </a:r>
          </a:p>
          <a:p>
            <a:pPr algn="l"/>
            <a:r>
              <a:rPr sz="1100" b="0" i="0">
                <a:solidFill>
                  <a:srgbClr val="0F172A"/>
                </a:solidFill>
              </a:rPr>
              <a:t>Subscription lifecycle events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0" y="4709160"/>
            <a:ext cx="333756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0F172A"/>
                </a:solidFill>
              </a:rPr>
              <a:t>Verdict:</a:t>
            </a:r>
          </a:p>
          <a:p>
            <a:pPr algn="l"/>
            <a:r>
              <a:rPr sz="1100" b="0" i="1">
                <a:solidFill>
                  <a:srgbClr val="0F172A"/>
                </a:solidFill>
              </a:rPr>
              <a:t>Add only when we turn on NoQx Pro recurring billing. Skip for now.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4748B"/>
                </a:solidFill>
              </a:rPr>
              <a:t>Canteen-Application · Razorpay Integration Playbook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0" y="64922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4748B"/>
                </a:solidFill>
              </a:rPr>
              <a:t>4 / 18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KYC documents to gather BEFORE applying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FFFFFF"/>
                </a:solidFill>
              </a:rPr>
              <a:t>Client already has GST + current account — most of this is checklist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143000"/>
            <a:ext cx="5669280" cy="50292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28016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6A34A"/>
                </a:solidFill>
              </a:rPr>
              <a:t>Business KYC (use this — GST holder)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828800"/>
            <a:ext cx="53035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0F172A"/>
                </a:solidFill>
              </a:rPr>
              <a:t>• Business PAN card</a:t>
            </a:r>
          </a:p>
          <a:p>
            <a:pPr algn="l"/>
            <a:r>
              <a:rPr sz="1200">
                <a:solidFill>
                  <a:srgbClr val="0F172A"/>
                </a:solidFill>
              </a:rPr>
              <a:t>• GST certificate (already have ✓)</a:t>
            </a:r>
          </a:p>
          <a:p>
            <a:pPr algn="l"/>
            <a:r>
              <a:rPr sz="1200">
                <a:solidFill>
                  <a:srgbClr val="0F172A"/>
                </a:solidFill>
              </a:rPr>
              <a:t>• Certificate of Incorporation / Partnership Deed /
     Shop &amp; Establishment / Udyam (MSME) — pick one</a:t>
            </a:r>
          </a:p>
          <a:p>
            <a:pPr algn="l"/>
            <a:r>
              <a:rPr sz="1200">
                <a:solidFill>
                  <a:srgbClr val="0F172A"/>
                </a:solidFill>
              </a:rPr>
              <a:t>• Cancelled cheque OR bank statement of the current account
     (already have ✓ — name on cheque must match business name)</a:t>
            </a:r>
          </a:p>
          <a:p>
            <a:pPr algn="l"/>
            <a:r>
              <a:rPr sz="1200">
                <a:solidFill>
                  <a:srgbClr val="0F172A"/>
                </a:solidFill>
              </a:rPr>
              <a:t>• Business address proof (utility bill / rental agreement)</a:t>
            </a:r>
          </a:p>
          <a:p>
            <a:pPr algn="l"/>
            <a:r>
              <a:rPr sz="1200">
                <a:solidFill>
                  <a:srgbClr val="0F172A"/>
                </a:solidFill>
              </a:rPr>
              <a:t>• Director / Partner / Proprietor PAN + Aadhaar</a:t>
            </a:r>
          </a:p>
          <a:p>
            <a:pPr algn="l"/>
            <a:r>
              <a:rPr sz="1200">
                <a:solidFill>
                  <a:srgbClr val="0F172A"/>
                </a:solidFill>
              </a:rPr>
              <a:t>• Website URL: https://canteenapplication-production.up.railway.app/</a:t>
            </a:r>
          </a:p>
          <a:p>
            <a:pPr algn="l"/>
            <a:r>
              <a:rPr sz="1200">
                <a:solidFill>
                  <a:srgbClr val="0F172A"/>
                </a:solidFill>
              </a:rPr>
              <a:t>• Working email + phone (must answer Razorpay's verification call)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143000"/>
            <a:ext cx="5669280" cy="50292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6474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28016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64748B"/>
                </a:solidFill>
              </a:rPr>
              <a:t>Individual KYC (skip — only if no entity)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828800"/>
            <a:ext cx="53035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0F172A"/>
                </a:solidFill>
              </a:rPr>
              <a:t>• PAN card</a:t>
            </a:r>
          </a:p>
          <a:p>
            <a:pPr algn="l"/>
            <a:r>
              <a:rPr sz="1200">
                <a:solidFill>
                  <a:srgbClr val="0F172A"/>
                </a:solidFill>
              </a:rPr>
              <a:t>• Aadhaar card</a:t>
            </a:r>
          </a:p>
          <a:p>
            <a:pPr algn="l"/>
            <a:r>
              <a:rPr sz="1200">
                <a:solidFill>
                  <a:srgbClr val="0F172A"/>
                </a:solidFill>
              </a:rPr>
              <a:t>• Cancelled cheque (personal account)</a:t>
            </a:r>
          </a:p>
          <a:p>
            <a:pPr algn="l"/>
            <a:r>
              <a:rPr sz="1200">
                <a:solidFill>
                  <a:srgbClr val="0F172A"/>
                </a:solidFill>
              </a:rPr>
              <a:t>• Address proof</a:t>
            </a:r>
          </a:p>
          <a:p>
            <a:pPr algn="l"/>
            <a:r>
              <a:rPr sz="1200">
                <a:solidFill>
                  <a:srgbClr val="0F172A"/>
                </a:solidFill>
              </a:rPr>
              <a:t>• Working email + phone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4748B"/>
                </a:solidFill>
              </a:rPr>
              <a:t>Canteen-Application · Razorpay Integration Playbook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0" y="64922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4748B"/>
                </a:solidFill>
              </a:rPr>
              <a:t>5 / 18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Website requirements (already done — no action)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>
                <a:solidFill>
                  <a:srgbClr val="0F172A"/>
                </a:solidFill>
              </a:rPr>
              <a:t>• Terms of Service     → /terms</a:t>
            </a:r>
          </a:p>
          <a:p>
            <a:pPr algn="l"/>
            <a:r>
              <a:rPr sz="1800">
                <a:solidFill>
                  <a:srgbClr val="0F172A"/>
                </a:solidFill>
              </a:rPr>
              <a:t>• Privacy Policy       → /privacy</a:t>
            </a:r>
          </a:p>
          <a:p>
            <a:pPr algn="l"/>
            <a:r>
              <a:rPr sz="1800">
                <a:solidFill>
                  <a:srgbClr val="0F172A"/>
                </a:solidFill>
              </a:rPr>
              <a:t>• Refund / Cancellation Policy → /refund</a:t>
            </a:r>
          </a:p>
          <a:p>
            <a:pPr algn="l"/>
            <a:r>
              <a:rPr sz="1800">
                <a:solidFill>
                  <a:srgbClr val="0F172A"/>
                </a:solidFill>
              </a:rPr>
              <a:t>• Shipping &amp; Delivery Policy   → /shipping</a:t>
            </a:r>
          </a:p>
          <a:p>
            <a:pPr algn="l"/>
            <a:r>
              <a:rPr sz="1800">
                <a:solidFill>
                  <a:srgbClr val="0F172A"/>
                </a:solidFill>
              </a:rPr>
              <a:t>• Contact Us (with Grievance Officer details) → /contact</a:t>
            </a:r>
          </a:p>
          <a:p>
            <a:pPr algn="l"/>
            <a:r>
              <a:rPr sz="1800">
                <a:solidFill>
                  <a:srgbClr val="0F172A"/>
                </a:solidFill>
              </a:rPr>
              <a:t>• All 5 linked from the public login page footer — Razorpay reviewer can navigate to each</a:t>
            </a:r>
          </a:p>
          <a:p>
            <a:pPr algn="l"/>
            <a:r>
              <a:rPr sz="1800">
                <a:solidFill>
                  <a:srgbClr val="0F172A"/>
                </a:solidFill>
              </a:rPr>
              <a:t>• Only operator action: replace placeholder support email / phone / address in app/contact/page.tsx with real monitored values BEFORE submitting KYC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4748B"/>
                </a:solidFill>
              </a:rPr>
              <a:t>Canteen-Application · Razorpay Integration Playbook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64922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4748B"/>
                </a:solidFill>
              </a:rPr>
              <a:t>6 / 18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Operator activation steps · in order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FFFFFF"/>
                </a:solidFill>
              </a:rPr>
              <a:t>Each step is dashboard work — no code changes</a:t>
            </a:r>
          </a:p>
        </p:txBody>
      </p:sp>
      <p:sp>
        <p:nvSpPr>
          <p:cNvPr id="5" name="Oval 4"/>
          <p:cNvSpPr/>
          <p:nvPr/>
        </p:nvSpPr>
        <p:spPr>
          <a:xfrm>
            <a:off x="411480" y="1051560"/>
            <a:ext cx="457200" cy="457200"/>
          </a:xfrm>
          <a:prstGeom prst="ellipse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84048" y="1106424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1024127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172A"/>
                </a:solidFill>
              </a:rPr>
              <a:t>Sign up at dashboard.razorpay.com using the business email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1298448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64748B"/>
                </a:solidFill>
              </a:rPr>
              <a:t>5 min · email verification</a:t>
            </a:r>
          </a:p>
        </p:txBody>
      </p:sp>
      <p:sp>
        <p:nvSpPr>
          <p:cNvPr id="9" name="Oval 8"/>
          <p:cNvSpPr/>
          <p:nvPr/>
        </p:nvSpPr>
        <p:spPr>
          <a:xfrm>
            <a:off x="411480" y="1554480"/>
            <a:ext cx="457200" cy="457200"/>
          </a:xfrm>
          <a:prstGeom prst="ellipse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84048" y="1609344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152704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172A"/>
                </a:solidFill>
              </a:rPr>
              <a:t>Submit Business KYC (documents from previous slide)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1801368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64748B"/>
                </a:solidFill>
              </a:rPr>
              <a:t>30 min upload · 2–7 business days approval</a:t>
            </a:r>
          </a:p>
        </p:txBody>
      </p:sp>
      <p:sp>
        <p:nvSpPr>
          <p:cNvPr id="13" name="Oval 12"/>
          <p:cNvSpPr/>
          <p:nvPr/>
        </p:nvSpPr>
        <p:spPr>
          <a:xfrm>
            <a:off x="411480" y="2057400"/>
            <a:ext cx="457200" cy="457200"/>
          </a:xfrm>
          <a:prstGeom prst="ellipse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84048" y="2112264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202996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172A"/>
                </a:solidFill>
              </a:rPr>
              <a:t>Wait for KYC approval email — until then only test mode works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2304288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64748B"/>
                </a:solidFill>
              </a:rPr>
              <a:t>Razorpay may call to verify; ensure phone is answered</a:t>
            </a:r>
          </a:p>
        </p:txBody>
      </p:sp>
      <p:sp>
        <p:nvSpPr>
          <p:cNvPr id="17" name="Oval 16"/>
          <p:cNvSpPr/>
          <p:nvPr/>
        </p:nvSpPr>
        <p:spPr>
          <a:xfrm>
            <a:off x="411480" y="2560320"/>
            <a:ext cx="457200" cy="457200"/>
          </a:xfrm>
          <a:prstGeom prst="ellipse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84048" y="2615184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253288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172A"/>
                </a:solidFill>
              </a:rPr>
              <a:t>After approval → Settings → API Keys → Generate Live Mode keys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2807208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64748B"/>
                </a:solidFill>
              </a:rPr>
              <a:t>1 min · save them in a password manager</a:t>
            </a:r>
          </a:p>
        </p:txBody>
      </p:sp>
      <p:sp>
        <p:nvSpPr>
          <p:cNvPr id="21" name="Oval 20"/>
          <p:cNvSpPr/>
          <p:nvPr/>
        </p:nvSpPr>
        <p:spPr>
          <a:xfrm>
            <a:off x="411480" y="3063239"/>
            <a:ext cx="457200" cy="457200"/>
          </a:xfrm>
          <a:prstGeom prst="ellipse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84048" y="3118103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" y="303580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172A"/>
                </a:solidFill>
              </a:rPr>
              <a:t>Add live keys to Railway env vars on BOTH staging and production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" y="3310127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64748B"/>
                </a:solidFill>
              </a:rPr>
              <a:t>RAZORPAY_KEY_ID + RAZORPAY_KEY_SECRET</a:t>
            </a:r>
          </a:p>
        </p:txBody>
      </p:sp>
      <p:sp>
        <p:nvSpPr>
          <p:cNvPr id="25" name="Oval 24"/>
          <p:cNvSpPr/>
          <p:nvPr/>
        </p:nvSpPr>
        <p:spPr>
          <a:xfrm>
            <a:off x="411480" y="3566159"/>
            <a:ext cx="457200" cy="457200"/>
          </a:xfrm>
          <a:prstGeom prst="ellipse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84048" y="3621023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5840" y="3538727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172A"/>
                </a:solidFill>
              </a:rPr>
              <a:t>Settings → Webhooks → Add new endpoint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05840" y="3813048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64748B"/>
                </a:solidFill>
              </a:rPr>
              <a:t>URL: &lt;prod&gt;/api/payments/razorpay-webhook  ·  Active mode: Live</a:t>
            </a:r>
          </a:p>
        </p:txBody>
      </p:sp>
      <p:sp>
        <p:nvSpPr>
          <p:cNvPr id="29" name="Oval 28"/>
          <p:cNvSpPr/>
          <p:nvPr/>
        </p:nvSpPr>
        <p:spPr>
          <a:xfrm>
            <a:off x="411480" y="4069079"/>
            <a:ext cx="457200" cy="457200"/>
          </a:xfrm>
          <a:prstGeom prst="ellipse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84048" y="4123943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05840" y="4041647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172A"/>
                </a:solidFill>
              </a:rPr>
              <a:t>Subscribe webhook to the 6 events listed in slide 10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05840" y="4315967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64748B"/>
                </a:solidFill>
              </a:rPr>
              <a:t>payment.captured / failed / authorized + refund.created / processed / failed</a:t>
            </a:r>
          </a:p>
        </p:txBody>
      </p:sp>
      <p:sp>
        <p:nvSpPr>
          <p:cNvPr id="33" name="Oval 32"/>
          <p:cNvSpPr/>
          <p:nvPr/>
        </p:nvSpPr>
        <p:spPr>
          <a:xfrm>
            <a:off x="411480" y="4571999"/>
            <a:ext cx="457200" cy="457200"/>
          </a:xfrm>
          <a:prstGeom prst="ellipse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84048" y="4626863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8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05840" y="4544567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172A"/>
                </a:solidFill>
              </a:rPr>
              <a:t>Copy webhook signing secret → set RAZORPAY_WEBHOOK_SECRET in Railway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05840" y="4818888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64748B"/>
                </a:solidFill>
              </a:rPr>
              <a:t>Same secret on both staging and production</a:t>
            </a:r>
          </a:p>
        </p:txBody>
      </p:sp>
      <p:sp>
        <p:nvSpPr>
          <p:cNvPr id="37" name="Oval 36"/>
          <p:cNvSpPr/>
          <p:nvPr/>
        </p:nvSpPr>
        <p:spPr>
          <a:xfrm>
            <a:off x="411480" y="5074919"/>
            <a:ext cx="457200" cy="457200"/>
          </a:xfrm>
          <a:prstGeom prst="ellipse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84048" y="5129783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9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05840" y="5047487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172A"/>
                </a:solidFill>
              </a:rPr>
              <a:t>Settings → Settlements → confirm bank account, pick T+2 cycle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05840" y="5321807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64748B"/>
                </a:solidFill>
              </a:rPr>
              <a:t>Money will land in current account every 2 working days</a:t>
            </a:r>
          </a:p>
        </p:txBody>
      </p:sp>
      <p:sp>
        <p:nvSpPr>
          <p:cNvPr id="41" name="Oval 40"/>
          <p:cNvSpPr/>
          <p:nvPr/>
        </p:nvSpPr>
        <p:spPr>
          <a:xfrm>
            <a:off x="411480" y="5577839"/>
            <a:ext cx="457200" cy="457200"/>
          </a:xfrm>
          <a:prstGeom prst="ellipse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84048" y="5632703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10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05840" y="5550407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172A"/>
                </a:solidFill>
              </a:rPr>
              <a:t>Settings → Notifications → enable email alerts for disputes + refund failures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05840" y="5824727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64748B"/>
                </a:solidFill>
              </a:rPr>
              <a:t>Route to a monitored inbox, not a personal address</a:t>
            </a:r>
          </a:p>
        </p:txBody>
      </p:sp>
      <p:sp>
        <p:nvSpPr>
          <p:cNvPr id="45" name="Oval 44"/>
          <p:cNvSpPr/>
          <p:nvPr/>
        </p:nvSpPr>
        <p:spPr>
          <a:xfrm>
            <a:off x="411480" y="6080759"/>
            <a:ext cx="457200" cy="457200"/>
          </a:xfrm>
          <a:prstGeom prst="ellipse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84048" y="6135623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11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05840" y="6053327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172A"/>
                </a:solidFill>
              </a:rPr>
              <a:t>Run pre-launch test plan (slide 12) — ₹1 real transaction end-to-end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05840" y="6327647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64748B"/>
                </a:solidFill>
              </a:rPr>
              <a:t>Verify webhook 200s, refund flows, settlement lands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4748B"/>
                </a:solidFill>
              </a:rPr>
              <a:t>Canteen-Application · Razorpay Integration Playbook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058400" y="64922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4748B"/>
                </a:solidFill>
              </a:rPr>
              <a:t>7 / 18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What our code already handles (no dev work needed)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>
                <a:solidFill>
                  <a:srgbClr val="0F172A"/>
                </a:solidFill>
              </a:rPr>
              <a:t>• Razorpay Checkout UI loaded on cart page</a:t>
            </a:r>
          </a:p>
          <a:p>
            <a:pPr algn="l"/>
            <a:r>
              <a:rPr sz="1800">
                <a:solidFill>
                  <a:srgbClr val="0F172A"/>
                </a:solidFill>
              </a:rPr>
              <a:t>• Server-side order creation → /api/payments/razorpay-order</a:t>
            </a:r>
          </a:p>
          <a:p>
            <a:pPr algn="l"/>
            <a:r>
              <a:rPr sz="1800">
                <a:solidFill>
                  <a:srgbClr val="0F172A"/>
                </a:solidFill>
              </a:rPr>
              <a:t>• HMAC-SHA256 signature verification → /api/payments/razorpay-verify</a:t>
            </a:r>
          </a:p>
          <a:p>
            <a:pPr algn="l"/>
            <a:r>
              <a:rPr sz="1800">
                <a:solidFill>
                  <a:srgbClr val="0F172A"/>
                </a:solidFill>
              </a:rPr>
              <a:t>• Webhook receiver with constant-time signature compare → /api/payments/razorpay-webhook</a:t>
            </a:r>
          </a:p>
          <a:p>
            <a:pPr algn="l"/>
            <a:r>
              <a:rPr sz="1800">
                <a:solidFill>
                  <a:srgbClr val="0F172A"/>
                </a:solidFill>
              </a:rPr>
              <a:t>• Auto-refund when verify fails ("money debited but order not confirmed")</a:t>
            </a:r>
          </a:p>
          <a:p>
            <a:pPr algn="l"/>
            <a:r>
              <a:rPr sz="1800">
                <a:solidFill>
                  <a:srgbClr val="0F172A"/>
                </a:solidFill>
              </a:rPr>
              <a:t>• Student self-cancel within 45 seconds → auto-refund through Razorpay API</a:t>
            </a:r>
          </a:p>
          <a:p>
            <a:pPr algn="l"/>
            <a:r>
              <a:rPr sz="1800">
                <a:solidFill>
                  <a:srgbClr val="0F172A"/>
                </a:solidFill>
              </a:rPr>
              <a:t>• Staff cancel from canteen dashboard → auto-refund with reason captured</a:t>
            </a:r>
          </a:p>
          <a:p>
            <a:pPr algn="l"/>
            <a:r>
              <a:rPr sz="1800">
                <a:solidFill>
                  <a:srgbClr val="0F172A"/>
                </a:solidFill>
              </a:rPr>
              <a:t>• payment.failed webhook → auto-refund initiated server-to-server</a:t>
            </a:r>
          </a:p>
          <a:p>
            <a:pPr algn="l"/>
            <a:r>
              <a:rPr sz="1800">
                <a:solidFill>
                  <a:srgbClr val="0F172A"/>
                </a:solidFill>
              </a:rPr>
              <a:t>• refund.processed webhook → updates payment ledger automatically</a:t>
            </a:r>
          </a:p>
          <a:p>
            <a:pPr algn="l"/>
            <a:r>
              <a:rPr sz="1800">
                <a:solidFill>
                  <a:srgbClr val="0F172A"/>
                </a:solidFill>
              </a:rPr>
              <a:t>• Idempotent payment recording — duplicate events safe to retry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4748B"/>
                </a:solidFill>
              </a:rPr>
              <a:t>Canteen-Application · Razorpay Integration Playbook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64922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4748B"/>
                </a:solidFill>
              </a:rPr>
              <a:t>8 / 18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Operator dashboard checklist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FFFFFF"/>
                </a:solidFill>
              </a:rPr>
              <a:t>Tick off as each one is done; nothing here is 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18872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>
                <a:solidFill>
                  <a:srgbClr val="0F172A"/>
                </a:solidFill>
              </a:rPr>
              <a:t>• Razorpay account created and email verified</a:t>
            </a:r>
          </a:p>
          <a:p>
            <a:pPr algn="l"/>
            <a:r>
              <a:rPr sz="1500">
                <a:solidFill>
                  <a:srgbClr val="0F172A"/>
                </a:solidFill>
              </a:rPr>
              <a:t>• Business KYC submitted with all 7 documents</a:t>
            </a:r>
          </a:p>
          <a:p>
            <a:pPr algn="l"/>
            <a:r>
              <a:rPr sz="1500">
                <a:solidFill>
                  <a:srgbClr val="0F172A"/>
                </a:solidFill>
              </a:rPr>
              <a:t>• KYC approved — confirmation email received</a:t>
            </a:r>
          </a:p>
          <a:p>
            <a:pPr algn="l"/>
            <a:r>
              <a:rPr sz="1500">
                <a:solidFill>
                  <a:srgbClr val="0F172A"/>
                </a:solidFill>
              </a:rPr>
              <a:t>• Live API keys generated and stored securely</a:t>
            </a:r>
          </a:p>
          <a:p>
            <a:pPr algn="l"/>
            <a:r>
              <a:rPr sz="1500">
                <a:solidFill>
                  <a:srgbClr val="0F172A"/>
                </a:solidFill>
              </a:rPr>
              <a:t>• RAZORPAY_KEY_ID added to Railway (staging)</a:t>
            </a:r>
          </a:p>
          <a:p>
            <a:pPr algn="l"/>
            <a:r>
              <a:rPr sz="1500">
                <a:solidFill>
                  <a:srgbClr val="0F172A"/>
                </a:solidFill>
              </a:rPr>
              <a:t>• RAZORPAY_KEY_SECRET added to Railway (staging)</a:t>
            </a:r>
          </a:p>
          <a:p>
            <a:pPr algn="l"/>
            <a:r>
              <a:rPr sz="1500">
                <a:solidFill>
                  <a:srgbClr val="0F172A"/>
                </a:solidFill>
              </a:rPr>
              <a:t>• RAZORPAY_KEY_ID added to Railway (production)</a:t>
            </a:r>
          </a:p>
          <a:p>
            <a:pPr algn="l"/>
            <a:r>
              <a:rPr sz="1500">
                <a:solidFill>
                  <a:srgbClr val="0F172A"/>
                </a:solidFill>
              </a:rPr>
              <a:t>• RAZORPAY_KEY_SECRET added to Railway (production)</a:t>
            </a:r>
          </a:p>
          <a:p>
            <a:pPr algn="l"/>
            <a:r>
              <a:rPr sz="1500">
                <a:solidFill>
                  <a:srgbClr val="0F172A"/>
                </a:solidFill>
              </a:rPr>
              <a:t>• Webhook endpoint added in dashboard pointing to production URL</a:t>
            </a:r>
          </a:p>
          <a:p>
            <a:pPr algn="l"/>
            <a:r>
              <a:rPr sz="1500">
                <a:solidFill>
                  <a:srgbClr val="0F172A"/>
                </a:solidFill>
              </a:rPr>
              <a:t>• Webhook events subscribed (6 events — slide 10)</a:t>
            </a:r>
          </a:p>
          <a:p>
            <a:pPr algn="l"/>
            <a:r>
              <a:rPr sz="1500">
                <a:solidFill>
                  <a:srgbClr val="0F172A"/>
                </a:solidFill>
              </a:rPr>
              <a:t>• RAZORPAY_WEBHOOK_SECRET added to Railway (both envs)</a:t>
            </a:r>
          </a:p>
          <a:p>
            <a:pPr algn="l"/>
            <a:r>
              <a:rPr sz="1500">
                <a:solidFill>
                  <a:srgbClr val="0F172A"/>
                </a:solidFill>
              </a:rPr>
              <a:t>• Settlement cycle confirmed (T+2 to current account)</a:t>
            </a:r>
          </a:p>
          <a:p>
            <a:pPr algn="l"/>
            <a:r>
              <a:rPr sz="1500">
                <a:solidFill>
                  <a:srgbClr val="0F172A"/>
                </a:solidFill>
              </a:rPr>
              <a:t>• Notification emails routed to monitored inbox</a:t>
            </a:r>
          </a:p>
          <a:p>
            <a:pPr algn="l"/>
            <a:r>
              <a:rPr sz="1500">
                <a:solidFill>
                  <a:srgbClr val="0F172A"/>
                </a:solidFill>
              </a:rPr>
              <a:t>• Test ₹1 transaction passed all 7 checks (slide 12)</a:t>
            </a:r>
          </a:p>
          <a:p>
            <a:pPr algn="l"/>
            <a:r>
              <a:rPr sz="1500">
                <a:solidFill>
                  <a:srgbClr val="0F172A"/>
                </a:solidFill>
              </a:rPr>
              <a:t>• Placeholder contact email/phone replaced in app/contact/page.tsx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4748B"/>
                </a:solidFill>
              </a:rPr>
              <a:t>Canteen-Application · Razorpay Integration Playbook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0" y="64922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4748B"/>
                </a:solidFill>
              </a:rPr>
              <a:t>9 / 18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Environment variables on Railway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FFFFFF"/>
                </a:solidFill>
              </a:rPr>
              <a:t>Set the same 3 keys on BOTH staging and production services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188720"/>
            <a:ext cx="11247120" cy="5029200"/>
          </a:xfrm>
          <a:prstGeom prst="roundRect">
            <a:avLst/>
          </a:prstGeom>
          <a:solidFill>
            <a:srgbClr val="1E293B"/>
          </a:solidFill>
          <a:ln w="15875">
            <a:solidFill>
              <a:srgbClr val="F973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4173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97316"/>
                </a:solidFill>
              </a:rPr>
              <a:t>RAZORPAY_KEY_ID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34840" y="14173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Settings → API Keys → "Generate Live Mode" → copy Key ID (starts with rzp_live_…)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34840" y="17373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4748B"/>
                </a:solidFill>
              </a:rPr>
              <a:t>format: rzp_live_abcdef1234567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3774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97316"/>
                </a:solidFill>
              </a:rPr>
              <a:t>RAZORPAY_KEY_SECRET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34840" y="23774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Same screen, immediately after generation — secret is shown ONCE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34840" y="269748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4748B"/>
                </a:solidFill>
              </a:rPr>
              <a:t>format: (secret shown only at generation time)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3375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97316"/>
                </a:solidFill>
              </a:rPr>
              <a:t>RAZORPAY_WEBHOOK_SECRET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34840" y="33375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Settings → Webhooks → click your webhook → Reveal Secret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34840" y="36576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4748B"/>
                </a:solidFill>
              </a:rPr>
              <a:t>format: any string ≥ 12 chars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54864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FEF3C7"/>
                </a:solidFill>
              </a:rPr>
              <a:t>Reminder: never commit these to git. They live ONLY in Railway → Variables.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58521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EF3C7"/>
                </a:solidFill>
              </a:rPr>
              <a:t>After updating env vars, Railway will auto-redeploy. Test the webhook once after deploy completes.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4748B"/>
                </a:solidFill>
              </a:rPr>
              <a:t>Canteen-Application · Razorpay Integration Playbook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0" y="64922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4748B"/>
                </a:solidFill>
              </a:rPr>
              <a:t>10 / 18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Cost model on Standard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FFFFFF"/>
                </a:solidFill>
              </a:rPr>
              <a:t>What Razorpay charges and what to budget for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0040" y="1143000"/>
            <a:ext cx="2788920" cy="50292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2514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6A34A"/>
                </a:solidFill>
              </a:rPr>
              <a:t>Per transaction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783080"/>
            <a:ext cx="2514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0F172A"/>
                </a:solidFill>
              </a:rPr>
              <a:t>• UPI: 2% + GST</a:t>
            </a:r>
          </a:p>
          <a:p>
            <a:pPr algn="l"/>
            <a:r>
              <a:rPr sz="1100">
                <a:solidFill>
                  <a:srgbClr val="0F172A"/>
                </a:solidFill>
              </a:rPr>
              <a:t>• Cards (Visa/Master/RuPay): 2% + GST</a:t>
            </a:r>
          </a:p>
          <a:p>
            <a:pPr algn="l"/>
            <a:r>
              <a:rPr sz="1100">
                <a:solidFill>
                  <a:srgbClr val="0F172A"/>
                </a:solidFill>
              </a:rPr>
              <a:t>• Netbanking: 2% + GST</a:t>
            </a:r>
          </a:p>
          <a:p>
            <a:pPr algn="l"/>
            <a:r>
              <a:rPr sz="1100">
                <a:solidFill>
                  <a:srgbClr val="0F172A"/>
                </a:solidFill>
              </a:rPr>
              <a:t>• Wallets (Paytm/PhonePe/etc): 2% + GST</a:t>
            </a:r>
          </a:p>
          <a:p>
            <a:pPr algn="l"/>
            <a:r>
              <a:rPr sz="1100">
                <a:solidFill>
                  <a:srgbClr val="0F172A"/>
                </a:solidFill>
              </a:rPr>
              <a:t>• International cards: 3% + GST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46120" y="1143000"/>
            <a:ext cx="2788920" cy="50292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F973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383279" y="1280160"/>
            <a:ext cx="2514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97316"/>
                </a:solidFill>
              </a:rPr>
              <a:t>Per refund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83279" y="1783080"/>
            <a:ext cx="2514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0F172A"/>
                </a:solidFill>
              </a:rPr>
              <a:t>• ₹10 + GST per refund (Standard)</a:t>
            </a:r>
          </a:p>
          <a:p>
            <a:pPr algn="l"/>
            <a:r>
              <a:rPr sz="1100">
                <a:solidFill>
                  <a:srgbClr val="0F172A"/>
                </a:solidFill>
              </a:rPr>
              <a:t>• Bake this into your business math</a:t>
            </a:r>
          </a:p>
          <a:p>
            <a:pPr algn="l"/>
            <a:r>
              <a:rPr sz="1100">
                <a:solidFill>
                  <a:srgbClr val="0F172A"/>
                </a:solidFill>
              </a:rPr>
              <a:t>• Free refunds available only on higher-tier plans</a:t>
            </a:r>
          </a:p>
          <a:p>
            <a:pPr algn="l"/>
            <a:r>
              <a:rPr sz="1100">
                <a:solidFill>
                  <a:srgbClr val="0F172A"/>
                </a:solidFill>
              </a:rPr>
              <a:t>• Both full and partial refunds cost the same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199" y="1143000"/>
            <a:ext cx="2788920" cy="50292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6474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09359" y="1280160"/>
            <a:ext cx="2514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64748B"/>
                </a:solidFill>
              </a:rPr>
              <a:t>Settlement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59" y="1783080"/>
            <a:ext cx="2514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0F172A"/>
                </a:solidFill>
              </a:rPr>
              <a:t>• Default: T+2 (money lands 2 working days after capture)</a:t>
            </a:r>
          </a:p>
          <a:p>
            <a:pPr algn="l"/>
            <a:r>
              <a:rPr sz="1100">
                <a:solidFill>
                  <a:srgbClr val="0F172A"/>
                </a:solidFill>
              </a:rPr>
              <a:t>• First 30 days post-activation: T+7 hold (fraud buffer)</a:t>
            </a:r>
          </a:p>
          <a:p>
            <a:pPr algn="l"/>
            <a:r>
              <a:rPr sz="1100">
                <a:solidFill>
                  <a:srgbClr val="0F172A"/>
                </a:solidFill>
              </a:rPr>
              <a:t>• After 30 days: can request T+1 or T+2</a:t>
            </a:r>
          </a:p>
          <a:p>
            <a:pPr algn="l"/>
            <a:r>
              <a:rPr sz="1100">
                <a:solidFill>
                  <a:srgbClr val="0F172A"/>
                </a:solidFill>
              </a:rPr>
              <a:t>• Settlement to current account is FREE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098280" y="1143000"/>
            <a:ext cx="2788920" cy="50292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235440" y="1280160"/>
            <a:ext cx="2514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DC2626"/>
                </a:solidFill>
              </a:rPr>
              <a:t>Other potential fees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35440" y="1783080"/>
            <a:ext cx="2514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0F172A"/>
                </a:solidFill>
              </a:rPr>
              <a:t>• Chargeback fee: ₹500 per chargeback initiated</a:t>
            </a:r>
          </a:p>
          <a:p>
            <a:pPr algn="l"/>
            <a:r>
              <a:rPr sz="1100">
                <a:solidFill>
                  <a:srgbClr val="0F172A"/>
                </a:solidFill>
              </a:rPr>
              <a:t>• Subscription add-on (if enabled later): small monthly</a:t>
            </a:r>
          </a:p>
          <a:p>
            <a:pPr algn="l"/>
            <a:r>
              <a:rPr sz="1100">
                <a:solidFill>
                  <a:srgbClr val="0F172A"/>
                </a:solidFill>
              </a:rPr>
              <a:t>• International payments: extra forex markup</a:t>
            </a:r>
          </a:p>
          <a:p>
            <a:pPr algn="l"/>
            <a:r>
              <a:rPr sz="1100">
                <a:solidFill>
                  <a:srgbClr val="0F172A"/>
                </a:solidFill>
              </a:rPr>
              <a:t>• No setup fee, no annual fee, no minimum volume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4748B"/>
                </a:solidFill>
              </a:rPr>
              <a:t>Canteen-Application · Razorpay Integration Playbook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0" y="64922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4748B"/>
                </a:solidFill>
              </a:rPr>
              <a:t>11 / 18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Pre-launch test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>
                <a:solidFill>
                  <a:srgbClr val="0F172A"/>
                </a:solidFill>
              </a:rPr>
              <a:t>• 1. Place a ₹1 real order on production — successful capture</a:t>
            </a:r>
          </a:p>
          <a:p>
            <a:pPr algn="l"/>
            <a:r>
              <a:rPr sz="1800">
                <a:solidFill>
                  <a:srgbClr val="0F172A"/>
                </a:solidFill>
              </a:rPr>
              <a:t>• 2. Verify webhook fired by checking Razorpay dashboard → Webhooks → Recent deliveries (should show 200)</a:t>
            </a:r>
          </a:p>
          <a:p>
            <a:pPr algn="l"/>
            <a:r>
              <a:rPr sz="1800">
                <a:solidFill>
                  <a:srgbClr val="0F172A"/>
                </a:solidFill>
              </a:rPr>
              <a:t>• 3. Cancel an order within 45 seconds — confirm refund initiated (Razorpay dashboard → Refunds)</a:t>
            </a:r>
          </a:p>
          <a:p>
            <a:pPr algn="l"/>
            <a:r>
              <a:rPr sz="1800">
                <a:solidFill>
                  <a:srgbClr val="0F172A"/>
                </a:solidFill>
              </a:rPr>
              <a:t>• 4. Cancel an order via staff dashboard with a reason — confirm refund + customer notification</a:t>
            </a:r>
          </a:p>
          <a:p>
            <a:pPr algn="l"/>
            <a:r>
              <a:rPr sz="1800">
                <a:solidFill>
                  <a:srgbClr val="0F172A"/>
                </a:solidFill>
              </a:rPr>
              <a:t>• 5. Force a payment failure (decline a card) — confirm auto-refund and student sees correct message</a:t>
            </a:r>
          </a:p>
          <a:p>
            <a:pPr algn="l"/>
            <a:r>
              <a:rPr sz="1800">
                <a:solidFill>
                  <a:srgbClr val="0F172A"/>
                </a:solidFill>
              </a:rPr>
              <a:t>• 6. Inspect a real payment in dashboard — check fees deducted match plan (2% for UPI/Card)</a:t>
            </a:r>
          </a:p>
          <a:p>
            <a:pPr algn="l"/>
            <a:r>
              <a:rPr sz="1800">
                <a:solidFill>
                  <a:srgbClr val="0F172A"/>
                </a:solidFill>
              </a:rPr>
              <a:t>• 7. Wait one settlement cycle (T+2) — confirm money lands in current account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4748B"/>
                </a:solidFill>
              </a:rPr>
              <a:t>Canteen-Application · Razorpay Integration Playbook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64922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4748B"/>
                </a:solidFill>
              </a:rPr>
              <a:t>12 / 18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Disputes &amp; chargebacks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FFFFFF"/>
                </a:solidFill>
              </a:rPr>
              <a:t>What happens when a customer complains to their bank — Razorpay-managed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114300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>
                <a:solidFill>
                  <a:srgbClr val="0F172A"/>
                </a:solidFill>
              </a:rPr>
              <a:t>• Customer disputes a charge (e.g. claims they didn't authorise)</a:t>
            </a:r>
          </a:p>
          <a:p>
            <a:pPr algn="l"/>
            <a:r>
              <a:rPr sz="1400">
                <a:solidFill>
                  <a:srgbClr val="0F172A"/>
                </a:solidFill>
              </a:rPr>
              <a:t>• Their bank notifies Razorpay → Razorpay debits the disputed amount from your settlement</a:t>
            </a:r>
          </a:p>
          <a:p>
            <a:pPr algn="l"/>
            <a:r>
              <a:rPr sz="1400">
                <a:solidFill>
                  <a:srgbClr val="0F172A"/>
                </a:solidFill>
              </a:rPr>
              <a:t>• Razorpay emails you and opens a Dispute case in dashboard</a:t>
            </a:r>
          </a:p>
          <a:p>
            <a:pPr algn="l"/>
            <a:r>
              <a:rPr sz="1400">
                <a:solidFill>
                  <a:srgbClr val="0F172A"/>
                </a:solidFill>
              </a:rPr>
              <a:t>• You have typically 7 days to respond. Upload evidence:</a:t>
            </a:r>
          </a:p>
          <a:p>
            <a:pPr algn="l"/>
            <a:r>
              <a:rPr sz="1400">
                <a:solidFill>
                  <a:srgbClr val="0F172A"/>
                </a:solidFill>
              </a:rPr>
              <a:t>•      • Order record (proof of legitimate order placed)</a:t>
            </a:r>
          </a:p>
          <a:p>
            <a:pPr algn="l"/>
            <a:r>
              <a:rPr sz="1400">
                <a:solidFill>
                  <a:srgbClr val="0F172A"/>
                </a:solidFill>
              </a:rPr>
              <a:t>•      • OTP / QR collection log (proof food was collected by them)</a:t>
            </a:r>
          </a:p>
          <a:p>
            <a:pPr algn="l"/>
            <a:r>
              <a:rPr sz="1400">
                <a:solidFill>
                  <a:srgbClr val="0F172A"/>
                </a:solidFill>
              </a:rPr>
              <a:t>•      • Communication with customer (if any)</a:t>
            </a:r>
          </a:p>
          <a:p>
            <a:pPr algn="l"/>
            <a:r>
              <a:rPr sz="1400">
                <a:solidFill>
                  <a:srgbClr val="0F172A"/>
                </a:solidFill>
              </a:rPr>
              <a:t>• Razorpay forwards your evidence to the bank</a:t>
            </a:r>
          </a:p>
          <a:p>
            <a:pPr algn="l"/>
            <a:r>
              <a:rPr sz="1400">
                <a:solidFill>
                  <a:srgbClr val="0F172A"/>
                </a:solidFill>
              </a:rPr>
              <a:t>• If you win → debited amount returned to settlement (1–6 weeks)</a:t>
            </a:r>
          </a:p>
          <a:p>
            <a:pPr algn="l"/>
            <a:r>
              <a:rPr sz="1400">
                <a:solidFill>
                  <a:srgbClr val="0F172A"/>
                </a:solidFill>
              </a:rPr>
              <a:t>• If you lose → debited amount kept by customer; Razorpay charges ₹500 chargeback fee</a:t>
            </a:r>
          </a:p>
          <a:p>
            <a:pPr algn="l"/>
            <a:r>
              <a:rPr sz="1400">
                <a:solidFill>
                  <a:srgbClr val="0F172A"/>
                </a:solidFill>
              </a:rPr>
              <a:t>• Action for operator: monitor dispute notification email + dashboard daily for first month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4748B"/>
                </a:solidFill>
              </a:rPr>
              <a:t>Canteen-Application · Razorpay Integration Playbook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0" y="64922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4748B"/>
                </a:solidFill>
              </a:rPr>
              <a:t>13 / 18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Day-2 operations · what to watch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>
                <a:solidFill>
                  <a:srgbClr val="0F172A"/>
                </a:solidFill>
              </a:rPr>
              <a:t>• Razorpay dashboard → Transactions: real-time payment list, search by phone or amount</a:t>
            </a:r>
          </a:p>
          <a:p>
            <a:pPr algn="l"/>
            <a:r>
              <a:rPr sz="1800">
                <a:solidFill>
                  <a:srgbClr val="0F172A"/>
                </a:solidFill>
              </a:rPr>
              <a:t>• Razorpay dashboard → Refunds: monitor pending vs processed</a:t>
            </a:r>
          </a:p>
          <a:p>
            <a:pPr algn="l"/>
            <a:r>
              <a:rPr sz="1800">
                <a:solidFill>
                  <a:srgbClr val="0F172A"/>
                </a:solidFill>
              </a:rPr>
              <a:t>• Razorpay dashboard → Disputes: respond within 7 days when one arrives</a:t>
            </a:r>
          </a:p>
          <a:p>
            <a:pPr algn="l"/>
            <a:r>
              <a:rPr sz="1800">
                <a:solidFill>
                  <a:srgbClr val="0F172A"/>
                </a:solidFill>
              </a:rPr>
              <a:t>• Railway logs: app-side errors (`[razorpay-webhook]` log lines)</a:t>
            </a:r>
          </a:p>
          <a:p>
            <a:pPr algn="l"/>
            <a:r>
              <a:rPr sz="1800">
                <a:solidFill>
                  <a:srgbClr val="0F172A"/>
                </a:solidFill>
              </a:rPr>
              <a:t>• Settlement reports: monthly GST invoice for platform fees (downloadable)</a:t>
            </a:r>
          </a:p>
          <a:p>
            <a:pPr algn="l"/>
            <a:r>
              <a:rPr sz="1800">
                <a:solidFill>
                  <a:srgbClr val="0F172A"/>
                </a:solidFill>
              </a:rPr>
              <a:t>• Set up email alerts in Razorpay → Settings → Notifications for: dispute raised, refund failed</a:t>
            </a:r>
          </a:p>
          <a:p>
            <a:pPr algn="l"/>
            <a:r>
              <a:rPr sz="1800">
                <a:solidFill>
                  <a:srgbClr val="0F172A"/>
                </a:solidFill>
              </a:rPr>
              <a:t>• Monthly: reconcile Razorpay settlement total against our orders table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4748B"/>
                </a:solidFill>
              </a:rPr>
              <a:t>Canteen-Application · Razorpay Integration Playbook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64922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4748B"/>
                </a:solidFill>
              </a:rPr>
              <a:t>14 / 18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Who does what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FFFFFF"/>
                </a:solidFill>
              </a:rPr>
              <a:t>Operator owns the dashboard; code already handles every payment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43000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F172A"/>
                </a:solidFill>
              </a:rPr>
              <a:t>Task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0" y="11430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97316"/>
                </a:solidFill>
              </a:rPr>
              <a:t>Operator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509760" y="11430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6A34A"/>
                </a:solidFill>
              </a:rPr>
              <a:t>Code (us)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554480"/>
            <a:ext cx="5943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</a:rPr>
              <a:t>Sign up + KYC submission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15544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97316"/>
                </a:solidFill>
              </a:rPr>
              <a:t>Operator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09760" y="155448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6A34A"/>
                </a:solidFill>
              </a:rPr>
              <a:t/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1856231"/>
            <a:ext cx="5943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</a:rPr>
              <a:t>Maintain accurate business contact info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1856231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97316"/>
                </a:solidFill>
              </a:rPr>
              <a:t>Operator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09760" y="1856231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6A34A"/>
                </a:solidFill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2157984"/>
            <a:ext cx="5943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</a:rPr>
              <a:t>Set Razorpay env vars on Railway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2157984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97316"/>
                </a:solidFill>
              </a:rPr>
              <a:t>Operator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509760" y="2157984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6A34A"/>
                </a:solidFill>
              </a:rPr>
              <a:t/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2459736"/>
            <a:ext cx="5943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</a:rPr>
              <a:t>Add webhook endpoint in dashboard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2459736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97316"/>
                </a:solidFill>
              </a:rPr>
              <a:t>Operator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509760" y="2459736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6A34A"/>
                </a:solidFill>
              </a:rPr>
              <a:t/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2761488"/>
            <a:ext cx="5943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</a:rPr>
              <a:t>Monitor disputes + respond with evidence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0" y="27614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97316"/>
                </a:solidFill>
              </a:rPr>
              <a:t>Operator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509760" y="27614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6A34A"/>
                </a:solidFill>
              </a:rPr>
              <a:t/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3063240"/>
            <a:ext cx="5943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</a:rPr>
              <a:t>Settlement reconciliation (monthly)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0" y="30632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97316"/>
                </a:solidFill>
              </a:rPr>
              <a:t>Operator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509760" y="306324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6A34A"/>
                </a:solidFill>
              </a:rPr>
              <a:t/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3364992"/>
            <a:ext cx="5943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</a:rPr>
              <a:t>Payment UI on cart page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0" y="3364992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97316"/>
                </a:solidFill>
              </a:rPr>
              <a:t/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509760" y="336499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6A34A"/>
                </a:solidFill>
              </a:rPr>
              <a:t>Done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3666744"/>
            <a:ext cx="5943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</a:rPr>
              <a:t>Order creation API → Razorpay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0" y="3666744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97316"/>
                </a:solidFill>
              </a:rPr>
              <a:t/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509760" y="3666744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6A34A"/>
                </a:solidFill>
              </a:rPr>
              <a:t>Done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3968496"/>
            <a:ext cx="5943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</a:rPr>
              <a:t>HMAC signature verification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0" y="3968496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97316"/>
                </a:solidFill>
              </a:rPr>
              <a:t/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509760" y="3968496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6A34A"/>
                </a:solidFill>
              </a:rPr>
              <a:t>Done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640" y="4270248"/>
            <a:ext cx="5943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</a:rPr>
              <a:t>Auto-refund on payment-verify failure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83680" y="427024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97316"/>
                </a:solidFill>
              </a:rPr>
              <a:t/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509760" y="427024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6A34A"/>
                </a:solidFill>
              </a:rPr>
              <a:t>Done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8640" y="4572000"/>
            <a:ext cx="5943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</a:rPr>
              <a:t>Student 45s self-cancel + auto-refund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83680" y="45720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97316"/>
                </a:solidFill>
              </a:rPr>
              <a:t/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509760" y="45720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6A34A"/>
                </a:solidFill>
              </a:rPr>
              <a:t>Done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48640" y="4873752"/>
            <a:ext cx="5943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</a:rPr>
              <a:t>Staff cancel + reason-captured refund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83680" y="4873752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97316"/>
                </a:solidFill>
              </a:rPr>
              <a:t/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509760" y="487375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6A34A"/>
                </a:solidFill>
              </a:rPr>
              <a:t>Done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48640" y="5175504"/>
            <a:ext cx="5943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</a:rPr>
              <a:t>payment.failed webhook → auto-refund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583680" y="5175504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97316"/>
                </a:solidFill>
              </a:rPr>
              <a:t/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509760" y="5175504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6A34A"/>
                </a:solidFill>
              </a:rPr>
              <a:t>Done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48640" y="5477256"/>
            <a:ext cx="5943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</a:rPr>
              <a:t>refund.processed webhook → ledger sync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583680" y="5477256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97316"/>
                </a:solidFill>
              </a:rPr>
              <a:t/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509760" y="5477256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6A34A"/>
                </a:solidFill>
              </a:rPr>
              <a:t>Done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48640" y="5779008"/>
            <a:ext cx="5943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</a:rPr>
              <a:t>Idempotent payment recording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583680" y="577900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97316"/>
                </a:solidFill>
              </a:rPr>
              <a:t/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509760" y="577900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6A34A"/>
                </a:solidFill>
              </a:rPr>
              <a:t>Done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4748B"/>
                </a:solidFill>
              </a:rPr>
              <a:t>Canteen-Application · Razorpay Integration Playbook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058400" y="64922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4748B"/>
                </a:solidFill>
              </a:rPr>
              <a:t>15 / 18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Risks and mitigations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DC2626"/>
                </a:solidFill>
              </a:rPr>
              <a:t>• KYC rejected for missing legal pages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0" y="1143000"/>
            <a:ext cx="6126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F172A"/>
                </a:solidFill>
              </a:rPr>
              <a:t>All 5 pages already live (Terms, Privacy, Refund, Shipping, Contact). Reviewer will find them via login footer.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874519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DC2626"/>
                </a:solidFill>
              </a:rPr>
              <a:t>• Settlement delayed because of T+7 holding period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0" y="1874519"/>
            <a:ext cx="6126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F172A"/>
                </a:solidFill>
              </a:rPr>
              <a:t>Plan working capital for the first 30 days. After that, T+2 kicks in.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606039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DC2626"/>
                </a:solidFill>
              </a:rPr>
              <a:t>• Genuine fraud / disputed chargeback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0" y="2606039"/>
            <a:ext cx="6126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F172A"/>
                </a:solidFill>
              </a:rPr>
              <a:t>Pickup OTP + QR scan logs are strong evidence. Monitor dispute mailer; respond within 7 days.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337559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DC2626"/>
                </a:solidFill>
              </a:rPr>
              <a:t>• Razorpay API key leaked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0" y="3337559"/>
            <a:ext cx="6126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F172A"/>
                </a:solidFill>
              </a:rPr>
              <a:t>Keys never committed to git (.env.example shows placeholders only). Rotate immediately via dashboard if leaked.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069079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DC2626"/>
                </a:solidFill>
              </a:rPr>
              <a:t>• Webhook never fires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0" y="4069079"/>
            <a:ext cx="6126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F172A"/>
                </a:solidFill>
              </a:rPr>
              <a:t>Check Razorpay dashboard → Webhooks → recent deliveries. If 4xx, our endpoint is rejecting; if no deliveries, URL wrong. Code already returns 200 on successful processing.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800599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DC2626"/>
                </a:solidFill>
              </a:rPr>
              <a:t>• Operator forgets to set RAZORPAY_WEBHOOK_SECRET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0" y="4800599"/>
            <a:ext cx="6126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F172A"/>
                </a:solidFill>
              </a:rPr>
              <a:t>Our endpoint refuses ALL webhooks if secret is missing (503). Failure is loud, not silent — easy to diagnose.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5532119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DC2626"/>
                </a:solidFill>
              </a:rPr>
              <a:t>• Cost overrun from per-refund ₹10 fee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0" y="5532119"/>
            <a:ext cx="6126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F172A"/>
                </a:solidFill>
              </a:rPr>
              <a:t>Negotiate refund-fee waiver after 3 months if monthly refund volume is high.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4748B"/>
                </a:solidFill>
              </a:rPr>
              <a:t>Canteen-Application · Razorpay Integration Playbook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0" y="64922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4748B"/>
                </a:solidFill>
              </a:rPr>
              <a:t>16 / 18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One-page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FFFFFF"/>
                </a:solidFill>
              </a:rPr>
              <a:t>Share this slide with the client if they want just the headlines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9728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97316"/>
                </a:solidFill>
              </a:rPr>
              <a:t>Plan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834640" y="1097280"/>
            <a:ext cx="8686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F172A"/>
                </a:solidFill>
              </a:rPr>
              <a:t>Razorpay Standard — 2% per transaction, no monthly fee, every refund/dispute feature included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64207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97316"/>
                </a:solidFill>
              </a:rPr>
              <a:t>Time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34640" y="1664207"/>
            <a:ext cx="8686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F172A"/>
                </a:solidFill>
              </a:rPr>
              <a:t>2–7 business days from KYC submission to first live payment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231136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97316"/>
                </a:solidFill>
              </a:rPr>
              <a:t>Operator inputs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34640" y="2231136"/>
            <a:ext cx="8686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F172A"/>
                </a:solidFill>
              </a:rPr>
              <a:t>Business PAN, GST cert, current-account cheque (already have ✓), entity proof, address proof, Director PAN+Aadhaar, business email + phone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798064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97316"/>
                </a:solidFill>
              </a:rPr>
              <a:t>Operator dashboard work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34640" y="2798064"/>
            <a:ext cx="8686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F172A"/>
                </a:solidFill>
              </a:rPr>
              <a:t>Sign up · submit KYC · paste 3 env vars · add 1 webhook URL · subscribe 6 events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364992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97316"/>
                </a:solidFill>
              </a:rPr>
              <a:t>Code work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34640" y="3364992"/>
            <a:ext cx="8686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F172A"/>
                </a:solidFill>
              </a:rPr>
              <a:t>Done. Every payment, refund, failed-payment, dispute, self-cancel and staff-cancel flow is already wired.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393192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97316"/>
                </a:solidFill>
              </a:rPr>
              <a:t>Cost to budget for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34640" y="3931920"/>
            <a:ext cx="8686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F172A"/>
                </a:solidFill>
              </a:rPr>
              <a:t>2% of GMV per transaction + ₹10 per refund + ₹500 per chargeback (rare)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4498848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97316"/>
                </a:solidFill>
              </a:rPr>
              <a:t>Settlement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34640" y="4498848"/>
            <a:ext cx="8686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F172A"/>
                </a:solidFill>
              </a:rPr>
              <a:t>Daily, T+2 to the current account that's already on file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5065776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97316"/>
                </a:solidFill>
              </a:rPr>
              <a:t>What to monitor day-2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834640" y="5065776"/>
            <a:ext cx="8686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F172A"/>
                </a:solidFill>
              </a:rPr>
              <a:t>Razorpay dashboard for disputes + refund failures; respond within 7 days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4748B"/>
                </a:solidFill>
              </a:rPr>
              <a:t>Canteen-Application · Razorpay Integration Playbook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58400" y="64922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4748B"/>
                </a:solidFill>
              </a:rPr>
              <a:t>17 / 18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Next actions — today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FFFFFF"/>
                </a:solidFill>
              </a:rPr>
              <a:t>If you want this live within a week, do these in order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143000"/>
            <a:ext cx="11430000" cy="5029200"/>
          </a:xfrm>
          <a:prstGeom prst="roundRect">
            <a:avLst/>
          </a:prstGeom>
          <a:solidFill>
            <a:srgbClr val="FEF3C7"/>
          </a:solidFill>
          <a:ln w="15875">
            <a:solidFill>
              <a:srgbClr val="F973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3258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97316"/>
                </a:solidFill>
              </a:rPr>
              <a:t>Today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468880" y="13258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0F172A"/>
                </a:solidFill>
              </a:rPr>
              <a:t>Edit app/contact/page.tsx — replace placeholder email/phone with real monitored ones. Tell the dev (us) to push the change.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828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97316"/>
                </a:solidFill>
              </a:rPr>
              <a:t>Today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68880" y="18288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0F172A"/>
                </a:solidFill>
              </a:rPr>
              <a:t>Operator: create a noreply / support email on the business domain if not already done. Razorpay will use it for verification.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3317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97316"/>
                </a:solidFill>
              </a:rPr>
              <a:t>Day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68880" y="23317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0F172A"/>
                </a:solidFill>
              </a:rPr>
              <a:t>Operator: sign up at dashboard.razorpay.com using business email.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834639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97316"/>
                </a:solidFill>
              </a:rPr>
              <a:t>Day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68880" y="2834639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0F172A"/>
                </a:solidFill>
              </a:rPr>
              <a:t>Operator: submit Business KYC with all 7 documents (slide 5).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3337559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97316"/>
                </a:solidFill>
              </a:rPr>
              <a:t>Days 2–7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68880" y="3337559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0F172A"/>
                </a:solidFill>
              </a:rPr>
              <a:t>Wait for KYC approval. Razorpay may call to verify business details — keep phone reachable.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3840479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97316"/>
                </a:solidFill>
              </a:rPr>
              <a:t>After approval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68880" y="3840479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0F172A"/>
                </a:solidFill>
              </a:rPr>
              <a:t>Operator: generate Live API keys → paste into Railway env vars on BOTH staging and production. Tell us so we can verify the deploy.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4343399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97316"/>
                </a:solidFill>
              </a:rPr>
              <a:t>Same day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468880" y="4343399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0F172A"/>
                </a:solidFill>
              </a:rPr>
              <a:t>Operator: add webhook URL in Razorpay dashboard. Copy webhook signing secret → Railway env.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4846319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97316"/>
                </a:solidFill>
              </a:rPr>
              <a:t>Same day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468880" y="4846319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0F172A"/>
                </a:solidFill>
              </a:rPr>
              <a:t>Run the 7-step test plan (slide 12) — ₹1 real transaction end-to-end.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5349239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97316"/>
                </a:solidFill>
              </a:rPr>
              <a:t>Going forward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468880" y="5349239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0F172A"/>
                </a:solidFill>
              </a:rPr>
              <a:t>Operator: monitor dashboard daily for the first month; reconcile settlement monthly.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4748B"/>
                </a:solidFill>
              </a:rPr>
              <a:t>Canteen-Application · Razorpay Integration Playbook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58400" y="64922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4748B"/>
                </a:solidFill>
              </a:rPr>
              <a:t>18 / 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